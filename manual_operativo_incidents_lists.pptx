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 consultadas:
- Microsoft Lists: https://support.microsoft.com/en-us/office/create-a-list-0d397414-d95f-41eb-addd-5e6eff41b083
- SharePoint connector for Power Automate: https://learn.microsoft.com/en-us/sharepoint/dev/business-apps/power-automate/sharepoint-connector-actions-triggers
- Send a message in Teams using Power Automate: https://learn.microsoft.com/en-us/power-automate/teams/send-a-message-in-teams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82296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Manual operativo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417320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34155"/>
                </a:solidFill>
              </a:rPr>
              <a:t>Registro de tickets en Microsoft Lists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94360" y="193852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Uso del equipo · Cola de asignación · Casos especiales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903720" y="3273552"/>
            <a:ext cx="100584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887968" y="3273552"/>
            <a:ext cx="1033272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0808208" y="3273552"/>
            <a:ext cx="667512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989320" y="2651760"/>
            <a:ext cx="1051560" cy="1234440"/>
          </a:xfrm>
          <a:prstGeom prst="roundRect">
            <a:avLst>
              <a:gd name="adj" fmla="val 6957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53912" y="2761488"/>
            <a:ext cx="722376" cy="10149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1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Crear ticket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01000" y="2651760"/>
            <a:ext cx="1051560" cy="1234440"/>
          </a:xfrm>
          <a:prstGeom prst="roundRect">
            <a:avLst>
              <a:gd name="adj" fmla="val 6957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65592" y="2761488"/>
            <a:ext cx="722376" cy="10149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2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Flujo asigna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012680" y="2651760"/>
            <a:ext cx="1051560" cy="1234440"/>
          </a:xfrm>
          <a:prstGeom prst="roundRect">
            <a:avLst>
              <a:gd name="adj" fmla="val 6957"/>
            </a:avLst>
          </a:prstGeom>
          <a:solidFill>
            <a:srgbClr val="F3E8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177272" y="2761488"/>
            <a:ext cx="722376" cy="10149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3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Teams avisa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" y="5166360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</a:rPr>
              <a:t>Este manual es para quienes registran tickets. No incluye cambios de lógica en Power Automate.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02920" y="65196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Manual operativo de cola de incidentes · 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38912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Alcance del manual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30352" y="896112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Qué debe hacer el equipo y qué no debe tocar.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338328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554480"/>
            <a:ext cx="91440" cy="14630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68249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</a:rPr>
              <a:t>Lo que sí hace el equipo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68680" y="2029968"/>
            <a:ext cx="301752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</a:rPr>
              <a:t>Crear el registro en la lista Incidents con el tipo correcto y los datos mínimos del caso.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4389120" y="1554480"/>
            <a:ext cx="338328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1554480"/>
            <a:ext cx="91440" cy="1463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68249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</a:rPr>
              <a:t>Lo que hace el flujo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617720" y="2029968"/>
            <a:ext cx="301752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</a:rPr>
              <a:t>Calcula el asignado normal, actualiza el ticket y envía la notificación al canal de Teams.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8138160" y="1554480"/>
            <a:ext cx="338328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0" y="1554480"/>
            <a:ext cx="91440" cy="14630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66760" y="168249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</a:rPr>
              <a:t>Lo que no toca el equipo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366760" y="2029968"/>
            <a:ext cx="301752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</a:rPr>
              <a:t>No modificar Power Automate, QueueState ni la lógica de créditos sin autorización.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640080" y="3931920"/>
            <a:ext cx="11109960" cy="530352"/>
          </a:xfrm>
          <a:prstGeom prst="roundRect">
            <a:avLst>
              <a:gd name="adj" fmla="val 17241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041648"/>
            <a:ext cx="10744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EA580C"/>
                </a:solidFill>
              </a:rPr>
              <a:t>Regla central: si el ticket fue asignado fuera de la cola normal, no se mueve la cola; se registra como excepción.</a:t>
            </a:r>
            <a:endParaRPr lang="en-US" sz="1120" dirty="0"/>
          </a:p>
        </p:txBody>
      </p:sp>
      <p:sp>
        <p:nvSpPr>
          <p:cNvPr id="20" name="Text 18"/>
          <p:cNvSpPr/>
          <p:nvPr/>
        </p:nvSpPr>
        <p:spPr>
          <a:xfrm>
            <a:off x="502920" y="65196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Manual operativo de cola de incidentes · 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38912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Flujo operativo diario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30352" y="896112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El usuario solo registra. La automatización decide y notifica.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468880" y="2880360"/>
            <a:ext cx="96012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892040" y="2880360"/>
            <a:ext cx="96012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315200" y="2880360"/>
            <a:ext cx="96012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738360" y="2880360"/>
            <a:ext cx="9144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94360" y="2148840"/>
            <a:ext cx="18288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" y="2258568"/>
            <a:ext cx="1499616" cy="1243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1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Registrar en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Incidents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566160" y="2148840"/>
            <a:ext cx="1188720" cy="1463040"/>
          </a:xfrm>
          <a:prstGeom prst="roundRect">
            <a:avLst>
              <a:gd name="adj" fmla="val 6154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30752" y="2258568"/>
            <a:ext cx="859536" cy="1243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2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Flow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89320" y="2148840"/>
            <a:ext cx="1188720" cy="1463040"/>
          </a:xfrm>
          <a:prstGeom prst="roundRect">
            <a:avLst>
              <a:gd name="adj" fmla="val 615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53912" y="2258568"/>
            <a:ext cx="859536" cy="1243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3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Asigna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412480" y="2148840"/>
            <a:ext cx="1188720" cy="1463040"/>
          </a:xfrm>
          <a:prstGeom prst="roundRect">
            <a:avLst>
              <a:gd name="adj" fmla="val 6154"/>
            </a:avLst>
          </a:prstGeom>
          <a:solidFill>
            <a:srgbClr val="F3E8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77072" y="2258568"/>
            <a:ext cx="859536" cy="1243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4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Teams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0835640" y="2148840"/>
            <a:ext cx="868680" cy="1463040"/>
          </a:xfrm>
          <a:prstGeom prst="roundRect">
            <a:avLst>
              <a:gd name="adj" fmla="val 8421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000232" y="2258568"/>
            <a:ext cx="539496" cy="1243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Cerrar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loop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4754880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Si la notificación llega, el asignado oficial es el publicado por Teams y reflejado en Incidents.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" y="65196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Manual operativo de cola de incidentes · 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38912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Campos que debe llenar el usuario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30352" y="896112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Usar solo los campos necesarios. No inventar valores.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325880"/>
            <a:ext cx="2633472" cy="611505"/>
          </a:xfrm>
          <a:prstGeom prst="rect">
            <a:avLst/>
          </a:prstGeom>
          <a:solidFill>
            <a:srgbClr val="0B1F3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" y="1380744"/>
            <a:ext cx="2523744" cy="50177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Campo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3227832" y="1325880"/>
            <a:ext cx="5705856" cy="611505"/>
          </a:xfrm>
          <a:prstGeom prst="rect">
            <a:avLst/>
          </a:prstGeom>
          <a:solidFill>
            <a:srgbClr val="0B1F3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82696" y="1380744"/>
            <a:ext cx="5596128" cy="50177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Cuándo se llena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8933688" y="1325880"/>
            <a:ext cx="2633472" cy="611505"/>
          </a:xfrm>
          <a:prstGeom prst="rect">
            <a:avLst/>
          </a:prstGeom>
          <a:solidFill>
            <a:srgbClr val="0B1F3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88552" y="1380744"/>
            <a:ext cx="2523744" cy="50177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Ejemplo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594360" y="1937385"/>
            <a:ext cx="2633472" cy="611505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" y="1992249"/>
            <a:ext cx="2523744" cy="50177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0F172A"/>
                </a:solidFill>
              </a:rPr>
              <a:t>Title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3227832" y="1937385"/>
            <a:ext cx="5705856" cy="611505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82696" y="1992249"/>
            <a:ext cx="5596128" cy="50177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0F172A"/>
                </a:solidFill>
              </a:rPr>
              <a:t>Siempre. Es el número del ticket o código del caso.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8933688" y="1937385"/>
            <a:ext cx="2633472" cy="611505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88552" y="1992249"/>
            <a:ext cx="2523744" cy="50177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0F172A"/>
                </a:solidFill>
              </a:rPr>
              <a:t>INC1376461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594360" y="2548890"/>
            <a:ext cx="2633472" cy="611505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" y="2603754"/>
            <a:ext cx="2523744" cy="50177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0F172A"/>
                </a:solidFill>
              </a:rPr>
              <a:t>EntryType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3227832" y="2548890"/>
            <a:ext cx="5705856" cy="611505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82696" y="2603754"/>
            <a:ext cx="5596128" cy="50177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0F172A"/>
                </a:solidFill>
              </a:rPr>
              <a:t>Siempre. Define si es normal o excepción.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8933688" y="2548890"/>
            <a:ext cx="2633472" cy="611505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88552" y="2603754"/>
            <a:ext cx="2523744" cy="50177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0F172A"/>
                </a:solidFill>
              </a:rPr>
              <a:t>Normal / India / AfterHours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594360" y="3160395"/>
            <a:ext cx="2633472" cy="611505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" y="3215259"/>
            <a:ext cx="2523744" cy="50177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0F172A"/>
                </a:solidFill>
              </a:rPr>
              <a:t>EmailCode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3227832" y="3160395"/>
            <a:ext cx="5705856" cy="611505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82696" y="3215259"/>
            <a:ext cx="5596128" cy="50177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0F172A"/>
                </a:solidFill>
              </a:rPr>
              <a:t>Solo si el caso llegó por correo con código especial.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8933688" y="3160395"/>
            <a:ext cx="2633472" cy="611505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88552" y="3215259"/>
            <a:ext cx="2523744" cy="50177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0F172A"/>
                </a:solidFill>
              </a:rPr>
              <a:t>MERGED-ABC-123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594360" y="3771900"/>
            <a:ext cx="2633472" cy="611505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" y="3826764"/>
            <a:ext cx="2523744" cy="50177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0F172A"/>
                </a:solidFill>
              </a:rPr>
              <a:t>AlreadyAssignedCode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3227832" y="3771900"/>
            <a:ext cx="5705856" cy="611505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82696" y="3826764"/>
            <a:ext cx="5596128" cy="50177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0F172A"/>
                </a:solidFill>
              </a:rPr>
              <a:t>Solo si ya fue asignado manualmente a alguien.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8933688" y="3771900"/>
            <a:ext cx="2633472" cy="611505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88552" y="3826764"/>
            <a:ext cx="2523744" cy="50177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0F172A"/>
                </a:solidFill>
              </a:rPr>
              <a:t>CRISTIAN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594360" y="4383405"/>
            <a:ext cx="2633472" cy="611505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9224" y="4438269"/>
            <a:ext cx="2523744" cy="50177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0F172A"/>
                </a:solidFill>
              </a:rPr>
              <a:t>AlreadyAssignedName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3227832" y="4383405"/>
            <a:ext cx="5705856" cy="611505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82696" y="4438269"/>
            <a:ext cx="5596128" cy="50177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0F172A"/>
                </a:solidFill>
              </a:rPr>
              <a:t>Nombre del miembro ya asignado.</a:t>
            </a:r>
            <a:endParaRPr lang="en-US" sz="920" dirty="0"/>
          </a:p>
        </p:txBody>
      </p:sp>
      <p:sp>
        <p:nvSpPr>
          <p:cNvPr id="40" name="Shape 38"/>
          <p:cNvSpPr/>
          <p:nvPr/>
        </p:nvSpPr>
        <p:spPr>
          <a:xfrm>
            <a:off x="8933688" y="4383405"/>
            <a:ext cx="2633472" cy="611505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988552" y="4438269"/>
            <a:ext cx="2523744" cy="50177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0F172A"/>
                </a:solidFill>
              </a:rPr>
              <a:t>Cristian</a:t>
            </a:r>
            <a:endParaRPr lang="en-US" sz="920" dirty="0"/>
          </a:p>
        </p:txBody>
      </p:sp>
      <p:sp>
        <p:nvSpPr>
          <p:cNvPr id="42" name="Shape 40"/>
          <p:cNvSpPr/>
          <p:nvPr/>
        </p:nvSpPr>
        <p:spPr>
          <a:xfrm>
            <a:off x="594360" y="4994910"/>
            <a:ext cx="2633472" cy="611505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9224" y="5049774"/>
            <a:ext cx="2523744" cy="50177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0F172A"/>
                </a:solidFill>
              </a:rPr>
              <a:t>Counted</a:t>
            </a:r>
            <a:endParaRPr lang="en-US" sz="920" dirty="0"/>
          </a:p>
        </p:txBody>
      </p:sp>
      <p:sp>
        <p:nvSpPr>
          <p:cNvPr id="44" name="Shape 42"/>
          <p:cNvSpPr/>
          <p:nvPr/>
        </p:nvSpPr>
        <p:spPr>
          <a:xfrm>
            <a:off x="3227832" y="4994910"/>
            <a:ext cx="5705856" cy="611505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82696" y="5049774"/>
            <a:ext cx="5596128" cy="50177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0F172A"/>
                </a:solidFill>
              </a:rPr>
              <a:t>Sí si representó trabajo real. No si fue merged o sin acción.</a:t>
            </a:r>
            <a:endParaRPr lang="en-US" sz="920" dirty="0"/>
          </a:p>
        </p:txBody>
      </p:sp>
      <p:sp>
        <p:nvSpPr>
          <p:cNvPr id="46" name="Shape 44"/>
          <p:cNvSpPr/>
          <p:nvPr/>
        </p:nvSpPr>
        <p:spPr>
          <a:xfrm>
            <a:off x="8933688" y="4994910"/>
            <a:ext cx="2633472" cy="611505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988552" y="5049774"/>
            <a:ext cx="2523744" cy="50177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0F172A"/>
                </a:solidFill>
              </a:rPr>
              <a:t>Yes / No</a:t>
            </a:r>
            <a:endParaRPr lang="en-US" sz="920" dirty="0"/>
          </a:p>
        </p:txBody>
      </p:sp>
      <p:sp>
        <p:nvSpPr>
          <p:cNvPr id="48" name="Shape 46"/>
          <p:cNvSpPr/>
          <p:nvPr/>
        </p:nvSpPr>
        <p:spPr>
          <a:xfrm>
            <a:off x="594360" y="5606415"/>
            <a:ext cx="2633472" cy="611505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9224" y="5661279"/>
            <a:ext cx="2523744" cy="50177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0F172A"/>
                </a:solidFill>
              </a:rPr>
              <a:t>Status</a:t>
            </a:r>
            <a:endParaRPr lang="en-US" sz="920" dirty="0"/>
          </a:p>
        </p:txBody>
      </p:sp>
      <p:sp>
        <p:nvSpPr>
          <p:cNvPr id="50" name="Shape 48"/>
          <p:cNvSpPr/>
          <p:nvPr/>
        </p:nvSpPr>
        <p:spPr>
          <a:xfrm>
            <a:off x="3227832" y="5606415"/>
            <a:ext cx="5705856" cy="611505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82696" y="5661279"/>
            <a:ext cx="5596128" cy="50177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0F172A"/>
                </a:solidFill>
              </a:rPr>
              <a:t>Al crear el registro debe iniciar en New.</a:t>
            </a:r>
            <a:endParaRPr lang="en-US" sz="920" dirty="0"/>
          </a:p>
        </p:txBody>
      </p:sp>
      <p:sp>
        <p:nvSpPr>
          <p:cNvPr id="52" name="Shape 50"/>
          <p:cNvSpPr/>
          <p:nvPr/>
        </p:nvSpPr>
        <p:spPr>
          <a:xfrm>
            <a:off x="8933688" y="5606415"/>
            <a:ext cx="2633472" cy="611505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988552" y="5661279"/>
            <a:ext cx="2523744" cy="50177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0F172A"/>
                </a:solidFill>
              </a:rPr>
              <a:t>New</a:t>
            </a:r>
            <a:endParaRPr lang="en-US" sz="920" dirty="0"/>
          </a:p>
        </p:txBody>
      </p:sp>
      <p:sp>
        <p:nvSpPr>
          <p:cNvPr id="54" name="Text 52"/>
          <p:cNvSpPr/>
          <p:nvPr/>
        </p:nvSpPr>
        <p:spPr>
          <a:xfrm>
            <a:off x="502920" y="65196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Manual operativo de cola de incidentes · 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38912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Caso normal: ticket nuevo de la cola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30352" y="896112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Aplica cuando el ticket no fue asignado manualmente a nadie.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1261872"/>
            <a:ext cx="1005840" cy="292608"/>
          </a:xfrm>
          <a:prstGeom prst="roundRect">
            <a:avLst>
              <a:gd name="adj" fmla="val 375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321308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Normal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783080" y="1261872"/>
            <a:ext cx="1097280" cy="292608"/>
          </a:xfrm>
          <a:prstGeom prst="roundRect">
            <a:avLst>
              <a:gd name="adj" fmla="val 375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56232" y="1321308"/>
            <a:ext cx="950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Excepción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063240" y="1261872"/>
            <a:ext cx="1005840" cy="292608"/>
          </a:xfrm>
          <a:prstGeom prst="roundRect">
            <a:avLst>
              <a:gd name="adj" fmla="val 375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36392" y="1321308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No cuenta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206240" y="1261872"/>
            <a:ext cx="1005840" cy="292608"/>
          </a:xfrm>
          <a:prstGeom prst="roundRect">
            <a:avLst>
              <a:gd name="adj" fmla="val 37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79392" y="1321308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Crédito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85800" y="1737360"/>
            <a:ext cx="31089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1737360"/>
            <a:ext cx="91440" cy="13258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186537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</a:rPr>
              <a:t>Cuándo usarlo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914400" y="2212848"/>
            <a:ext cx="274320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</a:rPr>
              <a:t>Cuando llega un ticket nuevo y debe respetar el orden actual de la cola.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4526280" y="1737360"/>
            <a:ext cx="31089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26280" y="1737360"/>
            <a:ext cx="91440" cy="1325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186537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</a:rPr>
              <a:t>Campos a llenar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754880" y="2212848"/>
            <a:ext cx="274320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</a:rPr>
              <a:t>Title = INCxxxx · EntryType = Normal · Status = New · Counted = Yes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8366760" y="1737360"/>
            <a:ext cx="31089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66760" y="1737360"/>
            <a:ext cx="91440" cy="1325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95360" y="186537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</a:rPr>
              <a:t>Resultado esperado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595360" y="2212848"/>
            <a:ext cx="274320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</a:rPr>
              <a:t>El flujo asigna al siguiente en cola y envía el mensaje por Teams.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1188720" y="3657600"/>
            <a:ext cx="3522269" cy="320040"/>
          </a:xfrm>
          <a:prstGeom prst="rect">
            <a:avLst/>
          </a:prstGeom>
          <a:solidFill>
            <a:srgbClr val="0B1F3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43584" y="3712464"/>
            <a:ext cx="3412541" cy="2103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</a:rPr>
              <a:t>Ejemplo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4710989" y="3657600"/>
            <a:ext cx="6261811" cy="320040"/>
          </a:xfrm>
          <a:prstGeom prst="rect">
            <a:avLst/>
          </a:prstGeom>
          <a:solidFill>
            <a:srgbClr val="0B1F3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65853" y="3712464"/>
            <a:ext cx="6152083" cy="2103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</a:rPr>
              <a:t>Valor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1188720" y="3977640"/>
            <a:ext cx="3522269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43584" y="4032504"/>
            <a:ext cx="3412541" cy="2103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0F172A"/>
                </a:solidFill>
              </a:rPr>
              <a:t>Title</a:t>
            </a:r>
            <a:endParaRPr lang="en-US" sz="1020" dirty="0"/>
          </a:p>
        </p:txBody>
      </p:sp>
      <p:sp>
        <p:nvSpPr>
          <p:cNvPr id="32" name="Shape 30"/>
          <p:cNvSpPr/>
          <p:nvPr/>
        </p:nvSpPr>
        <p:spPr>
          <a:xfrm>
            <a:off x="4710989" y="3977640"/>
            <a:ext cx="6261811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65853" y="4032504"/>
            <a:ext cx="6152083" cy="2103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0F172A"/>
                </a:solidFill>
              </a:rPr>
              <a:t>INC003</a:t>
            </a:r>
            <a:endParaRPr lang="en-US" sz="1020" dirty="0"/>
          </a:p>
        </p:txBody>
      </p:sp>
      <p:sp>
        <p:nvSpPr>
          <p:cNvPr id="34" name="Shape 32"/>
          <p:cNvSpPr/>
          <p:nvPr/>
        </p:nvSpPr>
        <p:spPr>
          <a:xfrm>
            <a:off x="1188720" y="4297680"/>
            <a:ext cx="3522269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243584" y="4352544"/>
            <a:ext cx="3412541" cy="2103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0F172A"/>
                </a:solidFill>
              </a:rPr>
              <a:t>EntryType</a:t>
            </a:r>
            <a:endParaRPr lang="en-US" sz="1020" dirty="0"/>
          </a:p>
        </p:txBody>
      </p:sp>
      <p:sp>
        <p:nvSpPr>
          <p:cNvPr id="36" name="Shape 34"/>
          <p:cNvSpPr/>
          <p:nvPr/>
        </p:nvSpPr>
        <p:spPr>
          <a:xfrm>
            <a:off x="4710989" y="4297680"/>
            <a:ext cx="6261811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65853" y="4352544"/>
            <a:ext cx="6152083" cy="2103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0F172A"/>
                </a:solidFill>
              </a:rPr>
              <a:t>Normal</a:t>
            </a:r>
            <a:endParaRPr lang="en-US" sz="1020" dirty="0"/>
          </a:p>
        </p:txBody>
      </p:sp>
      <p:sp>
        <p:nvSpPr>
          <p:cNvPr id="38" name="Shape 36"/>
          <p:cNvSpPr/>
          <p:nvPr/>
        </p:nvSpPr>
        <p:spPr>
          <a:xfrm>
            <a:off x="1188720" y="4617720"/>
            <a:ext cx="3522269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243584" y="4672584"/>
            <a:ext cx="3412541" cy="2103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0F172A"/>
                </a:solidFill>
              </a:rPr>
              <a:t>Status</a:t>
            </a:r>
            <a:endParaRPr lang="en-US" sz="1020" dirty="0"/>
          </a:p>
        </p:txBody>
      </p:sp>
      <p:sp>
        <p:nvSpPr>
          <p:cNvPr id="40" name="Shape 38"/>
          <p:cNvSpPr/>
          <p:nvPr/>
        </p:nvSpPr>
        <p:spPr>
          <a:xfrm>
            <a:off x="4710989" y="4617720"/>
            <a:ext cx="6261811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65853" y="4672584"/>
            <a:ext cx="6152083" cy="2103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0F172A"/>
                </a:solidFill>
              </a:rPr>
              <a:t>New</a:t>
            </a:r>
            <a:endParaRPr lang="en-US" sz="1020" dirty="0"/>
          </a:p>
        </p:txBody>
      </p:sp>
      <p:sp>
        <p:nvSpPr>
          <p:cNvPr id="42" name="Shape 40"/>
          <p:cNvSpPr/>
          <p:nvPr/>
        </p:nvSpPr>
        <p:spPr>
          <a:xfrm>
            <a:off x="1188720" y="4937760"/>
            <a:ext cx="3522269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243584" y="4992624"/>
            <a:ext cx="3412541" cy="2103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0F172A"/>
                </a:solidFill>
              </a:rPr>
              <a:t>Counted</a:t>
            </a:r>
            <a:endParaRPr lang="en-US" sz="1020" dirty="0"/>
          </a:p>
        </p:txBody>
      </p:sp>
      <p:sp>
        <p:nvSpPr>
          <p:cNvPr id="44" name="Shape 42"/>
          <p:cNvSpPr/>
          <p:nvPr/>
        </p:nvSpPr>
        <p:spPr>
          <a:xfrm>
            <a:off x="4710989" y="4937760"/>
            <a:ext cx="6261811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65853" y="4992624"/>
            <a:ext cx="6152083" cy="2103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0F172A"/>
                </a:solidFill>
              </a:rPr>
              <a:t>Yes</a:t>
            </a:r>
            <a:endParaRPr lang="en-US" sz="1020" dirty="0"/>
          </a:p>
        </p:txBody>
      </p:sp>
      <p:sp>
        <p:nvSpPr>
          <p:cNvPr id="46" name="Shape 44"/>
          <p:cNvSpPr/>
          <p:nvPr/>
        </p:nvSpPr>
        <p:spPr>
          <a:xfrm>
            <a:off x="1188720" y="5257800"/>
            <a:ext cx="3522269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243584" y="5312664"/>
            <a:ext cx="3412541" cy="2103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0F172A"/>
                </a:solidFill>
              </a:rPr>
              <a:t>AlreadyAssignedCode / Name</a:t>
            </a:r>
            <a:endParaRPr lang="en-US" sz="1020" dirty="0"/>
          </a:p>
        </p:txBody>
      </p:sp>
      <p:sp>
        <p:nvSpPr>
          <p:cNvPr id="48" name="Shape 46"/>
          <p:cNvSpPr/>
          <p:nvPr/>
        </p:nvSpPr>
        <p:spPr>
          <a:xfrm>
            <a:off x="4710989" y="5257800"/>
            <a:ext cx="6261811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65853" y="5312664"/>
            <a:ext cx="6152083" cy="2103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0F172A"/>
                </a:solidFill>
              </a:rPr>
              <a:t>Vacío</a:t>
            </a:r>
            <a:endParaRPr lang="en-US" sz="1020" dirty="0"/>
          </a:p>
        </p:txBody>
      </p:sp>
      <p:sp>
        <p:nvSpPr>
          <p:cNvPr id="50" name="Text 48"/>
          <p:cNvSpPr/>
          <p:nvPr/>
        </p:nvSpPr>
        <p:spPr>
          <a:xfrm>
            <a:off x="502920" y="65196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Manual operativo de cola de incidentes · 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38912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Caso especial: asignado por India u otro equipo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30352" y="896112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El ticket ya llegó asignado a alguien fuera del orden normal.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103120" y="2926080"/>
            <a:ext cx="13716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754880" y="2926080"/>
            <a:ext cx="141732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452360" y="2926080"/>
            <a:ext cx="141732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85800" y="214884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2258568"/>
            <a:ext cx="1225296" cy="13350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1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Recibe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Cristian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566160" y="2148840"/>
            <a:ext cx="1280160" cy="15544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30752" y="2258568"/>
            <a:ext cx="950976" cy="13350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2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Registrar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India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63640" y="2148840"/>
            <a:ext cx="1280160" cy="1554480"/>
          </a:xfrm>
          <a:prstGeom prst="roundRect">
            <a:avLst>
              <a:gd name="adj" fmla="val 5714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28232" y="2258568"/>
            <a:ext cx="950976" cy="13350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F172A"/>
                </a:solidFill>
              </a:rPr>
              <a:t>3</a:t>
            </a:r>
            <a:endParaRPr lang="en-US" sz="1220" dirty="0"/>
          </a:p>
          <a:p>
            <a:pPr indent="0" marL="0">
              <a:buNone/>
            </a:pPr>
            <a:r>
              <a:rPr lang="en-US" sz="1220" b="1" dirty="0">
                <a:solidFill>
                  <a:srgbClr val="0F172A"/>
                </a:solidFill>
              </a:rPr>
              <a:t>Cola NO</a:t>
            </a:r>
            <a:endParaRPr lang="en-US" sz="1220" dirty="0"/>
          </a:p>
          <a:p>
            <a:pPr indent="0" marL="0">
              <a:buNone/>
            </a:pPr>
            <a:r>
              <a:rPr lang="en-US" sz="1220" b="1" dirty="0">
                <a:solidFill>
                  <a:srgbClr val="0F172A"/>
                </a:solidFill>
              </a:rPr>
              <a:t>se mueve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9006840" y="2148840"/>
            <a:ext cx="1600200" cy="1554480"/>
          </a:xfrm>
          <a:prstGeom prst="roundRect">
            <a:avLst>
              <a:gd name="adj" fmla="val 4706"/>
            </a:avLst>
          </a:prstGeom>
          <a:solidFill>
            <a:srgbClr val="F3E8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71432" y="2258568"/>
            <a:ext cx="1271016" cy="13350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4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Crédito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si cuenta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2960" y="4617720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Campos: EntryType = India · AlreadyAssignedCode/Name = persona que lo recibió · Counted = Yes si lo trabajó.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65196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Manual operativo de cola de incidentes · 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38912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Caso especial: asignación manual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30352" y="896112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Usarlo cuando internamente alguien decide asignar el ticket fuera del orden.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11109960" cy="530352"/>
          </a:xfrm>
          <a:prstGeom prst="roundRect">
            <a:avLst>
              <a:gd name="adj" fmla="val 17241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389888"/>
            <a:ext cx="10744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EA580C"/>
                </a:solidFill>
              </a:rPr>
              <a:t>No registrar como Normal si se saltó el orden. Eso dañaría la cola.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777240" y="2148840"/>
            <a:ext cx="3621938" cy="483326"/>
          </a:xfrm>
          <a:prstGeom prst="rect">
            <a:avLst/>
          </a:prstGeom>
          <a:solidFill>
            <a:srgbClr val="0B1F3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2104" y="2203704"/>
            <a:ext cx="3512210" cy="37359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Campo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99178" y="2148840"/>
            <a:ext cx="7030822" cy="483326"/>
          </a:xfrm>
          <a:prstGeom prst="rect">
            <a:avLst/>
          </a:prstGeom>
          <a:solidFill>
            <a:srgbClr val="0B1F3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54042" y="2203704"/>
            <a:ext cx="6921094" cy="37359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Valor recomendado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77240" y="2632166"/>
            <a:ext cx="3621938" cy="48332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" y="2687030"/>
            <a:ext cx="3512210" cy="37359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Title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99178" y="2632166"/>
            <a:ext cx="7030822" cy="48332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54042" y="2687030"/>
            <a:ext cx="6921094" cy="37359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INC manual o número real del ticket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77240" y="3115491"/>
            <a:ext cx="3621938" cy="483326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" y="3170355"/>
            <a:ext cx="3512210" cy="37359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EntryType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399178" y="3115491"/>
            <a:ext cx="7030822" cy="483326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54042" y="3170355"/>
            <a:ext cx="6921094" cy="37359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ManualOverride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77240" y="3598817"/>
            <a:ext cx="3621938" cy="48332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" y="3653681"/>
            <a:ext cx="3512210" cy="37359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AlreadyAssignedCode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399178" y="3598817"/>
            <a:ext cx="7030822" cy="48332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54042" y="3653681"/>
            <a:ext cx="6921094" cy="37359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Código de quien recibió el ticket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77240" y="4082143"/>
            <a:ext cx="3621938" cy="483326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2104" y="4137007"/>
            <a:ext cx="3512210" cy="37359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AlreadyAssignedName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399178" y="4082143"/>
            <a:ext cx="7030822" cy="483326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54042" y="4137007"/>
            <a:ext cx="6921094" cy="37359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Nombre de quien recibió el ticket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77240" y="4565469"/>
            <a:ext cx="3621938" cy="48332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2104" y="4620333"/>
            <a:ext cx="3512210" cy="37359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Counted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399178" y="4565469"/>
            <a:ext cx="7030822" cy="48332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54042" y="4620333"/>
            <a:ext cx="6921094" cy="37359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Yes si trabajó el caso; No si no hizo acción real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77240" y="5048794"/>
            <a:ext cx="3621938" cy="483326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2104" y="5103658"/>
            <a:ext cx="3512210" cy="37359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Status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399178" y="5048794"/>
            <a:ext cx="7030822" cy="483326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54042" y="5103658"/>
            <a:ext cx="6921094" cy="37359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New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22960" y="580644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Ejemplo: la cola iba en Daniel, pero el ticket se asignó a Cristian. Se registra como ManualOverride y la cola sigue en Daniel.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02920" y="65196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Manual operativo de cola de incidentes · 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38912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Caso especial: after-hours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30352" y="896112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Aplica para cobertura fuera del horario normal, por ejemplo 6:00 p. m. a 7:00 p. m.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1600200"/>
            <a:ext cx="32004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600200"/>
            <a:ext cx="91440" cy="1280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72821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</a:rPr>
              <a:t>Cuándo usarlo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14400" y="2075688"/>
            <a:ext cx="283464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</a:rPr>
              <a:t>Cuando una persona atiende un ticket fuera del turno ordinario del equipo.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4480560" y="1600200"/>
            <a:ext cx="32004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1600200"/>
            <a:ext cx="91440" cy="1280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72821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</a:rPr>
              <a:t>Qué registrar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709160" y="2075688"/>
            <a:ext cx="283464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</a:rPr>
              <a:t>EntryType = AfterHours · AlreadyAssigned = persona que atendió · Counted = Yes.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8275320" y="1600200"/>
            <a:ext cx="32004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75320" y="1600200"/>
            <a:ext cx="91440" cy="1280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0" y="172821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</a:rPr>
              <a:t>Efecto en cola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503920" y="2075688"/>
            <a:ext cx="283464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</a:rPr>
              <a:t>No mueve la cola normal. Genera crédito si el ticket sí fue trabajado.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1280160" y="3657600"/>
            <a:ext cx="3472891" cy="304800"/>
          </a:xfrm>
          <a:prstGeom prst="rect">
            <a:avLst/>
          </a:prstGeom>
          <a:solidFill>
            <a:srgbClr val="0B1F3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35024" y="3712464"/>
            <a:ext cx="3363163" cy="1950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</a:rPr>
              <a:t>Ejemplo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4753051" y="3657600"/>
            <a:ext cx="6174029" cy="304800"/>
          </a:xfrm>
          <a:prstGeom prst="rect">
            <a:avLst/>
          </a:prstGeom>
          <a:solidFill>
            <a:srgbClr val="0B1F3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7915" y="3712464"/>
            <a:ext cx="6064301" cy="1950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</a:rPr>
              <a:t>Valor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1280160" y="3962400"/>
            <a:ext cx="3472891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35024" y="4017264"/>
            <a:ext cx="3363163" cy="1950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0F172A"/>
                </a:solidFill>
              </a:rPr>
              <a:t>Title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4753051" y="3962400"/>
            <a:ext cx="6174029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7915" y="4017264"/>
            <a:ext cx="6064301" cy="1950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0F172A"/>
                </a:solidFill>
              </a:rPr>
              <a:t>INC_AFTER_001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1280160" y="4267200"/>
            <a:ext cx="3472891" cy="3048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35024" y="4322064"/>
            <a:ext cx="3363163" cy="1950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0F172A"/>
                </a:solidFill>
              </a:rPr>
              <a:t>EntryType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4753051" y="4267200"/>
            <a:ext cx="6174029" cy="3048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7915" y="4322064"/>
            <a:ext cx="6064301" cy="1950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0F172A"/>
                </a:solidFill>
              </a:rPr>
              <a:t>AfterHours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1280160" y="4572000"/>
            <a:ext cx="3472891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35024" y="4626864"/>
            <a:ext cx="3363163" cy="1950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0F172A"/>
                </a:solidFill>
              </a:rPr>
              <a:t>AlreadyAssignedCode</a:t>
            </a:r>
            <a:endParaRPr lang="en-US" sz="1020" dirty="0"/>
          </a:p>
        </p:txBody>
      </p:sp>
      <p:sp>
        <p:nvSpPr>
          <p:cNvPr id="32" name="Shape 30"/>
          <p:cNvSpPr/>
          <p:nvPr/>
        </p:nvSpPr>
        <p:spPr>
          <a:xfrm>
            <a:off x="4753051" y="4572000"/>
            <a:ext cx="6174029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7915" y="4626864"/>
            <a:ext cx="6064301" cy="1950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0F172A"/>
                </a:solidFill>
              </a:rPr>
              <a:t>DAVID</a:t>
            </a:r>
            <a:endParaRPr lang="en-US" sz="1020" dirty="0"/>
          </a:p>
        </p:txBody>
      </p:sp>
      <p:sp>
        <p:nvSpPr>
          <p:cNvPr id="34" name="Shape 32"/>
          <p:cNvSpPr/>
          <p:nvPr/>
        </p:nvSpPr>
        <p:spPr>
          <a:xfrm>
            <a:off x="1280160" y="4876800"/>
            <a:ext cx="3472891" cy="3048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35024" y="4931664"/>
            <a:ext cx="3363163" cy="1950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0F172A"/>
                </a:solidFill>
              </a:rPr>
              <a:t>AlreadyAssignedName</a:t>
            </a:r>
            <a:endParaRPr lang="en-US" sz="1020" dirty="0"/>
          </a:p>
        </p:txBody>
      </p:sp>
      <p:sp>
        <p:nvSpPr>
          <p:cNvPr id="36" name="Shape 34"/>
          <p:cNvSpPr/>
          <p:nvPr/>
        </p:nvSpPr>
        <p:spPr>
          <a:xfrm>
            <a:off x="4753051" y="4876800"/>
            <a:ext cx="6174029" cy="3048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7915" y="4931664"/>
            <a:ext cx="6064301" cy="1950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0F172A"/>
                </a:solidFill>
              </a:rPr>
              <a:t>David</a:t>
            </a:r>
            <a:endParaRPr lang="en-US" sz="1020" dirty="0"/>
          </a:p>
        </p:txBody>
      </p:sp>
      <p:sp>
        <p:nvSpPr>
          <p:cNvPr id="38" name="Shape 36"/>
          <p:cNvSpPr/>
          <p:nvPr/>
        </p:nvSpPr>
        <p:spPr>
          <a:xfrm>
            <a:off x="1280160" y="5181600"/>
            <a:ext cx="3472891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335024" y="5236464"/>
            <a:ext cx="3363163" cy="1950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0F172A"/>
                </a:solidFill>
              </a:rPr>
              <a:t>Counted</a:t>
            </a:r>
            <a:endParaRPr lang="en-US" sz="1020" dirty="0"/>
          </a:p>
        </p:txBody>
      </p:sp>
      <p:sp>
        <p:nvSpPr>
          <p:cNvPr id="40" name="Shape 38"/>
          <p:cNvSpPr/>
          <p:nvPr/>
        </p:nvSpPr>
        <p:spPr>
          <a:xfrm>
            <a:off x="4753051" y="5181600"/>
            <a:ext cx="6174029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7915" y="5236464"/>
            <a:ext cx="6064301" cy="1950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0F172A"/>
                </a:solidFill>
              </a:rPr>
              <a:t>Yes</a:t>
            </a:r>
            <a:endParaRPr lang="en-US" sz="1020" dirty="0"/>
          </a:p>
        </p:txBody>
      </p:sp>
      <p:sp>
        <p:nvSpPr>
          <p:cNvPr id="42" name="Text 40"/>
          <p:cNvSpPr/>
          <p:nvPr/>
        </p:nvSpPr>
        <p:spPr>
          <a:xfrm>
            <a:off x="502920" y="65196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Manual operativo de cola de incidentes · 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38912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Caso especial: fin de semana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30352" y="896112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Aplica cuando el on-call recibe o trabaja un ticket sábado/domingo.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926080" y="2834640"/>
            <a:ext cx="1280160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669280" y="2834640"/>
            <a:ext cx="1280160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412480" y="2834640"/>
            <a:ext cx="1280160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68680" y="214884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3E8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3272" y="2258568"/>
            <a:ext cx="1591056" cy="1197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On-call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atiende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343400" y="2148840"/>
            <a:ext cx="1325880" cy="141732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07992" y="2258568"/>
            <a:ext cx="996696" cy="1197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Registrar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Weekend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086600" y="2148840"/>
            <a:ext cx="1325880" cy="1417320"/>
          </a:xfrm>
          <a:prstGeom prst="roundRect">
            <a:avLst>
              <a:gd name="adj" fmla="val 5517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51192" y="2258568"/>
            <a:ext cx="996696" cy="1197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No mueve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cola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829800" y="2148840"/>
            <a:ext cx="1417320" cy="1417320"/>
          </a:xfrm>
          <a:prstGeom prst="roundRect">
            <a:avLst>
              <a:gd name="adj" fmla="val 5161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994392" y="2258568"/>
            <a:ext cx="1088136" cy="1197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Crédito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posterior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461772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Campos: EntryType = Weekend · AlreadyAssigned = on-call · Counted = Yes si trabajó el caso.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65196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Manual operativo de cola de incidentes · 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38912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Caso especial: MergedEmail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30352" y="896112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Requisitos o casos que llegan por correo con un código especial.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1261872"/>
            <a:ext cx="1005840" cy="292608"/>
          </a:xfrm>
          <a:prstGeom prst="roundRect">
            <a:avLst>
              <a:gd name="adj" fmla="val 375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321308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Normal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783080" y="1261872"/>
            <a:ext cx="1097280" cy="292608"/>
          </a:xfrm>
          <a:prstGeom prst="roundRect">
            <a:avLst>
              <a:gd name="adj" fmla="val 375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56232" y="1321308"/>
            <a:ext cx="950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Excepción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063240" y="1261872"/>
            <a:ext cx="1005840" cy="292608"/>
          </a:xfrm>
          <a:prstGeom prst="roundRect">
            <a:avLst>
              <a:gd name="adj" fmla="val 375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36392" y="1321308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No cuenta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206240" y="1261872"/>
            <a:ext cx="1005840" cy="292608"/>
          </a:xfrm>
          <a:prstGeom prst="roundRect">
            <a:avLst>
              <a:gd name="adj" fmla="val 37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79392" y="1321308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Crédito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85800" y="1737360"/>
            <a:ext cx="31546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1737360"/>
            <a:ext cx="91440" cy="14173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1865376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</a:rPr>
              <a:t>Cuándo usarlo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914400" y="2212848"/>
            <a:ext cx="278892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</a:rPr>
              <a:t>Cuando el caso llega por correo y trae un código especial de merged/requisito.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4526280" y="1737360"/>
            <a:ext cx="31546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26280" y="1737360"/>
            <a:ext cx="91440" cy="1417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1865376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</a:rPr>
              <a:t>Campo obligatorio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754880" y="2212848"/>
            <a:ext cx="278892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</a:rPr>
              <a:t>EmailCode debe quedar diligenciado. Sin ese código, el caso queda incompleto.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8366760" y="1737360"/>
            <a:ext cx="31546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66760" y="1737360"/>
            <a:ext cx="91440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95360" y="1865376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</a:rPr>
              <a:t>Regla de conteo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595360" y="2212848"/>
            <a:ext cx="278892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</a:rPr>
              <a:t>Por defecto Counted = No. Solo usar Yes si realmente consumió trabajo del equipo.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1143000" y="3749040"/>
            <a:ext cx="3571646" cy="289560"/>
          </a:xfrm>
          <a:prstGeom prst="rect">
            <a:avLst/>
          </a:prstGeom>
          <a:solidFill>
            <a:srgbClr val="0B1F3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97864" y="3803904"/>
            <a:ext cx="3461918" cy="1798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</a:rPr>
              <a:t>Campo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4714646" y="3749040"/>
            <a:ext cx="6349594" cy="289560"/>
          </a:xfrm>
          <a:prstGeom prst="rect">
            <a:avLst/>
          </a:prstGeom>
          <a:solidFill>
            <a:srgbClr val="0B1F3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69510" y="3803904"/>
            <a:ext cx="6239866" cy="1798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</a:rPr>
              <a:t>Valor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1143000" y="4038600"/>
            <a:ext cx="3571646" cy="289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97864" y="4093464"/>
            <a:ext cx="3461918" cy="1798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0F172A"/>
                </a:solidFill>
              </a:rPr>
              <a:t>Title</a:t>
            </a:r>
            <a:endParaRPr lang="en-US" sz="1020" dirty="0"/>
          </a:p>
        </p:txBody>
      </p:sp>
      <p:sp>
        <p:nvSpPr>
          <p:cNvPr id="32" name="Shape 30"/>
          <p:cNvSpPr/>
          <p:nvPr/>
        </p:nvSpPr>
        <p:spPr>
          <a:xfrm>
            <a:off x="4714646" y="4038600"/>
            <a:ext cx="6349594" cy="289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69510" y="4093464"/>
            <a:ext cx="6239866" cy="1798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0F172A"/>
                </a:solidFill>
              </a:rPr>
              <a:t>EMAIL-001 o INC relacionado</a:t>
            </a:r>
            <a:endParaRPr lang="en-US" sz="1020" dirty="0"/>
          </a:p>
        </p:txBody>
      </p:sp>
      <p:sp>
        <p:nvSpPr>
          <p:cNvPr id="34" name="Shape 32"/>
          <p:cNvSpPr/>
          <p:nvPr/>
        </p:nvSpPr>
        <p:spPr>
          <a:xfrm>
            <a:off x="1143000" y="4328160"/>
            <a:ext cx="3571646" cy="2895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97864" y="4383024"/>
            <a:ext cx="3461918" cy="1798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0F172A"/>
                </a:solidFill>
              </a:rPr>
              <a:t>EntryType</a:t>
            </a:r>
            <a:endParaRPr lang="en-US" sz="1020" dirty="0"/>
          </a:p>
        </p:txBody>
      </p:sp>
      <p:sp>
        <p:nvSpPr>
          <p:cNvPr id="36" name="Shape 34"/>
          <p:cNvSpPr/>
          <p:nvPr/>
        </p:nvSpPr>
        <p:spPr>
          <a:xfrm>
            <a:off x="4714646" y="4328160"/>
            <a:ext cx="6349594" cy="2895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69510" y="4383024"/>
            <a:ext cx="6239866" cy="1798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0F172A"/>
                </a:solidFill>
              </a:rPr>
              <a:t>MergedEmail</a:t>
            </a:r>
            <a:endParaRPr lang="en-US" sz="1020" dirty="0"/>
          </a:p>
        </p:txBody>
      </p:sp>
      <p:sp>
        <p:nvSpPr>
          <p:cNvPr id="38" name="Shape 36"/>
          <p:cNvSpPr/>
          <p:nvPr/>
        </p:nvSpPr>
        <p:spPr>
          <a:xfrm>
            <a:off x="1143000" y="4617720"/>
            <a:ext cx="3571646" cy="289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97864" y="4672584"/>
            <a:ext cx="3461918" cy="1798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0F172A"/>
                </a:solidFill>
              </a:rPr>
              <a:t>EmailCode</a:t>
            </a:r>
            <a:endParaRPr lang="en-US" sz="1020" dirty="0"/>
          </a:p>
        </p:txBody>
      </p:sp>
      <p:sp>
        <p:nvSpPr>
          <p:cNvPr id="40" name="Shape 38"/>
          <p:cNvSpPr/>
          <p:nvPr/>
        </p:nvSpPr>
        <p:spPr>
          <a:xfrm>
            <a:off x="4714646" y="4617720"/>
            <a:ext cx="6349594" cy="289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69510" y="4672584"/>
            <a:ext cx="6239866" cy="1798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0F172A"/>
                </a:solidFill>
              </a:rPr>
              <a:t>Código especial recibido por correo</a:t>
            </a:r>
            <a:endParaRPr lang="en-US" sz="1020" dirty="0"/>
          </a:p>
        </p:txBody>
      </p:sp>
      <p:sp>
        <p:nvSpPr>
          <p:cNvPr id="42" name="Shape 40"/>
          <p:cNvSpPr/>
          <p:nvPr/>
        </p:nvSpPr>
        <p:spPr>
          <a:xfrm>
            <a:off x="1143000" y="4907280"/>
            <a:ext cx="3571646" cy="2895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197864" y="4962144"/>
            <a:ext cx="3461918" cy="1798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0F172A"/>
                </a:solidFill>
              </a:rPr>
              <a:t>Counted</a:t>
            </a:r>
            <a:endParaRPr lang="en-US" sz="1020" dirty="0"/>
          </a:p>
        </p:txBody>
      </p:sp>
      <p:sp>
        <p:nvSpPr>
          <p:cNvPr id="44" name="Shape 42"/>
          <p:cNvSpPr/>
          <p:nvPr/>
        </p:nvSpPr>
        <p:spPr>
          <a:xfrm>
            <a:off x="4714646" y="4907280"/>
            <a:ext cx="6349594" cy="2895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69510" y="4962144"/>
            <a:ext cx="6239866" cy="1798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0F172A"/>
                </a:solidFill>
              </a:rPr>
              <a:t>No por defecto</a:t>
            </a:r>
            <a:endParaRPr lang="en-US" sz="1020" dirty="0"/>
          </a:p>
        </p:txBody>
      </p:sp>
      <p:sp>
        <p:nvSpPr>
          <p:cNvPr id="46" name="Shape 44"/>
          <p:cNvSpPr/>
          <p:nvPr/>
        </p:nvSpPr>
        <p:spPr>
          <a:xfrm>
            <a:off x="1143000" y="5196840"/>
            <a:ext cx="3571646" cy="289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197864" y="5251704"/>
            <a:ext cx="3461918" cy="1798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0F172A"/>
                </a:solidFill>
              </a:rPr>
              <a:t>Status</a:t>
            </a:r>
            <a:endParaRPr lang="en-US" sz="1020" dirty="0"/>
          </a:p>
        </p:txBody>
      </p:sp>
      <p:sp>
        <p:nvSpPr>
          <p:cNvPr id="48" name="Shape 46"/>
          <p:cNvSpPr/>
          <p:nvPr/>
        </p:nvSpPr>
        <p:spPr>
          <a:xfrm>
            <a:off x="4714646" y="5196840"/>
            <a:ext cx="6349594" cy="289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69510" y="5251704"/>
            <a:ext cx="6239866" cy="1798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0F172A"/>
                </a:solidFill>
              </a:rPr>
              <a:t>New</a:t>
            </a:r>
            <a:endParaRPr lang="en-US" sz="1020" dirty="0"/>
          </a:p>
        </p:txBody>
      </p:sp>
      <p:sp>
        <p:nvSpPr>
          <p:cNvPr id="50" name="Text 48"/>
          <p:cNvSpPr/>
          <p:nvPr/>
        </p:nvSpPr>
        <p:spPr>
          <a:xfrm>
            <a:off x="502920" y="65196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Manual operativo de cola de incidentes · 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38912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Matriz rápida de decisión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30352" y="896112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Usar esta tabla antes de crear el registro.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2429104" cy="738051"/>
          </a:xfrm>
          <a:prstGeom prst="rect">
            <a:avLst/>
          </a:prstGeom>
          <a:solidFill>
            <a:srgbClr val="0B1F3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4904" y="1289304"/>
            <a:ext cx="2319376" cy="62832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15" b="1" dirty="0">
                <a:solidFill>
                  <a:srgbClr val="FFFFFF"/>
                </a:solidFill>
              </a:rPr>
              <a:t>Situación</a:t>
            </a:r>
            <a:endParaRPr lang="en-US" sz="815" dirty="0"/>
          </a:p>
        </p:txBody>
      </p:sp>
      <p:sp>
        <p:nvSpPr>
          <p:cNvPr id="8" name="Shape 6"/>
          <p:cNvSpPr/>
          <p:nvPr/>
        </p:nvSpPr>
        <p:spPr>
          <a:xfrm>
            <a:off x="2749144" y="1234440"/>
            <a:ext cx="1850746" cy="738051"/>
          </a:xfrm>
          <a:prstGeom prst="rect">
            <a:avLst/>
          </a:prstGeom>
          <a:solidFill>
            <a:srgbClr val="0B1F3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04008" y="1289304"/>
            <a:ext cx="1741018" cy="62832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15" b="1" dirty="0">
                <a:solidFill>
                  <a:srgbClr val="FFFFFF"/>
                </a:solidFill>
              </a:rPr>
              <a:t>EntryType</a:t>
            </a:r>
            <a:endParaRPr lang="en-US" sz="815" dirty="0"/>
          </a:p>
        </p:txBody>
      </p:sp>
      <p:sp>
        <p:nvSpPr>
          <p:cNvPr id="10" name="Shape 8"/>
          <p:cNvSpPr/>
          <p:nvPr/>
        </p:nvSpPr>
        <p:spPr>
          <a:xfrm>
            <a:off x="4599889" y="1234440"/>
            <a:ext cx="2544775" cy="738051"/>
          </a:xfrm>
          <a:prstGeom prst="rect">
            <a:avLst/>
          </a:prstGeom>
          <a:solidFill>
            <a:srgbClr val="0B1F3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54753" y="1289304"/>
            <a:ext cx="2435047" cy="62832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15" b="1" dirty="0">
                <a:solidFill>
                  <a:srgbClr val="FFFFFF"/>
                </a:solidFill>
              </a:rPr>
              <a:t>AlreadyAssigned</a:t>
            </a:r>
            <a:endParaRPr lang="en-US" sz="815" dirty="0"/>
          </a:p>
        </p:txBody>
      </p:sp>
      <p:sp>
        <p:nvSpPr>
          <p:cNvPr id="12" name="Shape 10"/>
          <p:cNvSpPr/>
          <p:nvPr/>
        </p:nvSpPr>
        <p:spPr>
          <a:xfrm>
            <a:off x="7144664" y="1234440"/>
            <a:ext cx="1619402" cy="738051"/>
          </a:xfrm>
          <a:prstGeom prst="rect">
            <a:avLst/>
          </a:prstGeom>
          <a:solidFill>
            <a:srgbClr val="0B1F3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99528" y="1289304"/>
            <a:ext cx="1509674" cy="62832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15" b="1" dirty="0">
                <a:solidFill>
                  <a:srgbClr val="FFFFFF"/>
                </a:solidFill>
              </a:rPr>
              <a:t>EmailCode</a:t>
            </a:r>
            <a:endParaRPr lang="en-US" sz="815" dirty="0"/>
          </a:p>
        </p:txBody>
      </p:sp>
      <p:sp>
        <p:nvSpPr>
          <p:cNvPr id="14" name="Shape 12"/>
          <p:cNvSpPr/>
          <p:nvPr/>
        </p:nvSpPr>
        <p:spPr>
          <a:xfrm>
            <a:off x="8764067" y="1234440"/>
            <a:ext cx="1503731" cy="738051"/>
          </a:xfrm>
          <a:prstGeom prst="rect">
            <a:avLst/>
          </a:prstGeom>
          <a:solidFill>
            <a:srgbClr val="0B1F3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18931" y="1289304"/>
            <a:ext cx="1394003" cy="62832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15" b="1" dirty="0">
                <a:solidFill>
                  <a:srgbClr val="FFFFFF"/>
                </a:solidFill>
              </a:rPr>
              <a:t>Counted</a:t>
            </a:r>
            <a:endParaRPr lang="en-US" sz="815" dirty="0"/>
          </a:p>
        </p:txBody>
      </p:sp>
      <p:sp>
        <p:nvSpPr>
          <p:cNvPr id="16" name="Shape 14"/>
          <p:cNvSpPr/>
          <p:nvPr/>
        </p:nvSpPr>
        <p:spPr>
          <a:xfrm>
            <a:off x="10267798" y="1234440"/>
            <a:ext cx="1619402" cy="738051"/>
          </a:xfrm>
          <a:prstGeom prst="rect">
            <a:avLst/>
          </a:prstGeom>
          <a:solidFill>
            <a:srgbClr val="0B1F3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22662" y="1289304"/>
            <a:ext cx="1509674" cy="62832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15" b="1" dirty="0">
                <a:solidFill>
                  <a:srgbClr val="FFFFFF"/>
                </a:solidFill>
              </a:rPr>
              <a:t>Impacto esperado</a:t>
            </a:r>
            <a:endParaRPr lang="en-US" sz="815" dirty="0"/>
          </a:p>
        </p:txBody>
      </p:sp>
      <p:sp>
        <p:nvSpPr>
          <p:cNvPr id="18" name="Shape 16"/>
          <p:cNvSpPr/>
          <p:nvPr/>
        </p:nvSpPr>
        <p:spPr>
          <a:xfrm>
            <a:off x="320040" y="1972491"/>
            <a:ext cx="2429104" cy="738051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4904" y="2027355"/>
            <a:ext cx="2319376" cy="62832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15" dirty="0">
                <a:solidFill>
                  <a:srgbClr val="0F172A"/>
                </a:solidFill>
              </a:rPr>
              <a:t>Ticket normal de cola</a:t>
            </a:r>
            <a:endParaRPr lang="en-US" sz="815" dirty="0"/>
          </a:p>
        </p:txBody>
      </p:sp>
      <p:sp>
        <p:nvSpPr>
          <p:cNvPr id="20" name="Shape 18"/>
          <p:cNvSpPr/>
          <p:nvPr/>
        </p:nvSpPr>
        <p:spPr>
          <a:xfrm>
            <a:off x="2749144" y="1972491"/>
            <a:ext cx="1850746" cy="738051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04008" y="2027355"/>
            <a:ext cx="1741018" cy="62832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15" dirty="0">
                <a:solidFill>
                  <a:srgbClr val="0F172A"/>
                </a:solidFill>
              </a:rPr>
              <a:t>Normal</a:t>
            </a:r>
            <a:endParaRPr lang="en-US" sz="815" dirty="0"/>
          </a:p>
        </p:txBody>
      </p:sp>
      <p:sp>
        <p:nvSpPr>
          <p:cNvPr id="22" name="Shape 20"/>
          <p:cNvSpPr/>
          <p:nvPr/>
        </p:nvSpPr>
        <p:spPr>
          <a:xfrm>
            <a:off x="4599889" y="1972491"/>
            <a:ext cx="2544775" cy="738051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54753" y="2027355"/>
            <a:ext cx="2435047" cy="62832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15" dirty="0">
                <a:solidFill>
                  <a:srgbClr val="0F172A"/>
                </a:solidFill>
              </a:rPr>
              <a:t>Vacío</a:t>
            </a:r>
            <a:endParaRPr lang="en-US" sz="815" dirty="0"/>
          </a:p>
        </p:txBody>
      </p:sp>
      <p:sp>
        <p:nvSpPr>
          <p:cNvPr id="24" name="Shape 22"/>
          <p:cNvSpPr/>
          <p:nvPr/>
        </p:nvSpPr>
        <p:spPr>
          <a:xfrm>
            <a:off x="7144664" y="1972491"/>
            <a:ext cx="1619402" cy="738051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99528" y="2027355"/>
            <a:ext cx="1509674" cy="62832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15" dirty="0">
                <a:solidFill>
                  <a:srgbClr val="0F172A"/>
                </a:solidFill>
              </a:rPr>
              <a:t>Vacío</a:t>
            </a:r>
            <a:endParaRPr lang="en-US" sz="815" dirty="0"/>
          </a:p>
        </p:txBody>
      </p:sp>
      <p:sp>
        <p:nvSpPr>
          <p:cNvPr id="26" name="Shape 24"/>
          <p:cNvSpPr/>
          <p:nvPr/>
        </p:nvSpPr>
        <p:spPr>
          <a:xfrm>
            <a:off x="8764067" y="1972491"/>
            <a:ext cx="1503731" cy="738051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18931" y="2027355"/>
            <a:ext cx="1394003" cy="62832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15" dirty="0">
                <a:solidFill>
                  <a:srgbClr val="0F172A"/>
                </a:solidFill>
              </a:rPr>
              <a:t>Yes</a:t>
            </a:r>
            <a:endParaRPr lang="en-US" sz="815" dirty="0"/>
          </a:p>
        </p:txBody>
      </p:sp>
      <p:sp>
        <p:nvSpPr>
          <p:cNvPr id="28" name="Shape 26"/>
          <p:cNvSpPr/>
          <p:nvPr/>
        </p:nvSpPr>
        <p:spPr>
          <a:xfrm>
            <a:off x="10267798" y="1972491"/>
            <a:ext cx="1619402" cy="738051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322662" y="2027355"/>
            <a:ext cx="1509674" cy="62832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15" dirty="0">
                <a:solidFill>
                  <a:srgbClr val="0F172A"/>
                </a:solidFill>
              </a:rPr>
              <a:t>Asigna al siguiente y mueve cola</a:t>
            </a:r>
            <a:endParaRPr lang="en-US" sz="815" dirty="0"/>
          </a:p>
        </p:txBody>
      </p:sp>
      <p:sp>
        <p:nvSpPr>
          <p:cNvPr id="30" name="Shape 28"/>
          <p:cNvSpPr/>
          <p:nvPr/>
        </p:nvSpPr>
        <p:spPr>
          <a:xfrm>
            <a:off x="320040" y="2710543"/>
            <a:ext cx="2429104" cy="738051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4904" y="2765407"/>
            <a:ext cx="2319376" cy="62832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15" dirty="0">
                <a:solidFill>
                  <a:srgbClr val="0F172A"/>
                </a:solidFill>
              </a:rPr>
              <a:t>Asignado por India</a:t>
            </a:r>
            <a:endParaRPr lang="en-US" sz="815" dirty="0"/>
          </a:p>
        </p:txBody>
      </p:sp>
      <p:sp>
        <p:nvSpPr>
          <p:cNvPr id="32" name="Shape 30"/>
          <p:cNvSpPr/>
          <p:nvPr/>
        </p:nvSpPr>
        <p:spPr>
          <a:xfrm>
            <a:off x="2749144" y="2710543"/>
            <a:ext cx="1850746" cy="738051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04008" y="2765407"/>
            <a:ext cx="1741018" cy="62832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15" dirty="0">
                <a:solidFill>
                  <a:srgbClr val="0F172A"/>
                </a:solidFill>
              </a:rPr>
              <a:t>India</a:t>
            </a:r>
            <a:endParaRPr lang="en-US" sz="815" dirty="0"/>
          </a:p>
        </p:txBody>
      </p:sp>
      <p:sp>
        <p:nvSpPr>
          <p:cNvPr id="34" name="Shape 32"/>
          <p:cNvSpPr/>
          <p:nvPr/>
        </p:nvSpPr>
        <p:spPr>
          <a:xfrm>
            <a:off x="4599889" y="2710543"/>
            <a:ext cx="2544775" cy="738051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54753" y="2765407"/>
            <a:ext cx="2435047" cy="62832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15" dirty="0">
                <a:solidFill>
                  <a:srgbClr val="0F172A"/>
                </a:solidFill>
              </a:rPr>
              <a:t>Persona que lo recibió</a:t>
            </a:r>
            <a:endParaRPr lang="en-US" sz="815" dirty="0"/>
          </a:p>
        </p:txBody>
      </p:sp>
      <p:sp>
        <p:nvSpPr>
          <p:cNvPr id="36" name="Shape 34"/>
          <p:cNvSpPr/>
          <p:nvPr/>
        </p:nvSpPr>
        <p:spPr>
          <a:xfrm>
            <a:off x="7144664" y="2710543"/>
            <a:ext cx="1619402" cy="738051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99528" y="2765407"/>
            <a:ext cx="1509674" cy="62832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15" dirty="0">
                <a:solidFill>
                  <a:srgbClr val="0F172A"/>
                </a:solidFill>
              </a:rPr>
              <a:t>Vacío</a:t>
            </a:r>
            <a:endParaRPr lang="en-US" sz="815" dirty="0"/>
          </a:p>
        </p:txBody>
      </p:sp>
      <p:sp>
        <p:nvSpPr>
          <p:cNvPr id="38" name="Shape 36"/>
          <p:cNvSpPr/>
          <p:nvPr/>
        </p:nvSpPr>
        <p:spPr>
          <a:xfrm>
            <a:off x="8764067" y="2710543"/>
            <a:ext cx="1503731" cy="738051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818931" y="2765407"/>
            <a:ext cx="1394003" cy="62832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15" dirty="0">
                <a:solidFill>
                  <a:srgbClr val="0F172A"/>
                </a:solidFill>
              </a:rPr>
              <a:t>Yes si trabajó</a:t>
            </a:r>
            <a:endParaRPr lang="en-US" sz="815" dirty="0"/>
          </a:p>
        </p:txBody>
      </p:sp>
      <p:sp>
        <p:nvSpPr>
          <p:cNvPr id="40" name="Shape 38"/>
          <p:cNvSpPr/>
          <p:nvPr/>
        </p:nvSpPr>
        <p:spPr>
          <a:xfrm>
            <a:off x="10267798" y="2710543"/>
            <a:ext cx="1619402" cy="738051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322662" y="2765407"/>
            <a:ext cx="1509674" cy="62832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15" dirty="0">
                <a:solidFill>
                  <a:srgbClr val="0F172A"/>
                </a:solidFill>
              </a:rPr>
              <a:t>No mueve cola; crea crédito</a:t>
            </a:r>
            <a:endParaRPr lang="en-US" sz="815" dirty="0"/>
          </a:p>
        </p:txBody>
      </p:sp>
      <p:sp>
        <p:nvSpPr>
          <p:cNvPr id="42" name="Shape 40"/>
          <p:cNvSpPr/>
          <p:nvPr/>
        </p:nvSpPr>
        <p:spPr>
          <a:xfrm>
            <a:off x="320040" y="3448594"/>
            <a:ext cx="2429104" cy="738051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74904" y="3503458"/>
            <a:ext cx="2319376" cy="62832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15" dirty="0">
                <a:solidFill>
                  <a:srgbClr val="0F172A"/>
                </a:solidFill>
              </a:rPr>
              <a:t>Asignación manual interna</a:t>
            </a:r>
            <a:endParaRPr lang="en-US" sz="815" dirty="0"/>
          </a:p>
        </p:txBody>
      </p:sp>
      <p:sp>
        <p:nvSpPr>
          <p:cNvPr id="44" name="Shape 42"/>
          <p:cNvSpPr/>
          <p:nvPr/>
        </p:nvSpPr>
        <p:spPr>
          <a:xfrm>
            <a:off x="2749144" y="3448594"/>
            <a:ext cx="1850746" cy="738051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804008" y="3503458"/>
            <a:ext cx="1741018" cy="62832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15" dirty="0">
                <a:solidFill>
                  <a:srgbClr val="0F172A"/>
                </a:solidFill>
              </a:rPr>
              <a:t>ManualOverride</a:t>
            </a:r>
            <a:endParaRPr lang="en-US" sz="815" dirty="0"/>
          </a:p>
        </p:txBody>
      </p:sp>
      <p:sp>
        <p:nvSpPr>
          <p:cNvPr id="46" name="Shape 44"/>
          <p:cNvSpPr/>
          <p:nvPr/>
        </p:nvSpPr>
        <p:spPr>
          <a:xfrm>
            <a:off x="4599889" y="3448594"/>
            <a:ext cx="2544775" cy="738051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54753" y="3503458"/>
            <a:ext cx="2435047" cy="62832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15" dirty="0">
                <a:solidFill>
                  <a:srgbClr val="0F172A"/>
                </a:solidFill>
              </a:rPr>
              <a:t>Persona asignada</a:t>
            </a:r>
            <a:endParaRPr lang="en-US" sz="815" dirty="0"/>
          </a:p>
        </p:txBody>
      </p:sp>
      <p:sp>
        <p:nvSpPr>
          <p:cNvPr id="48" name="Shape 46"/>
          <p:cNvSpPr/>
          <p:nvPr/>
        </p:nvSpPr>
        <p:spPr>
          <a:xfrm>
            <a:off x="7144664" y="3448594"/>
            <a:ext cx="1619402" cy="738051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199528" y="3503458"/>
            <a:ext cx="1509674" cy="62832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15" dirty="0">
                <a:solidFill>
                  <a:srgbClr val="0F172A"/>
                </a:solidFill>
              </a:rPr>
              <a:t>Vacío</a:t>
            </a:r>
            <a:endParaRPr lang="en-US" sz="815" dirty="0"/>
          </a:p>
        </p:txBody>
      </p:sp>
      <p:sp>
        <p:nvSpPr>
          <p:cNvPr id="50" name="Shape 48"/>
          <p:cNvSpPr/>
          <p:nvPr/>
        </p:nvSpPr>
        <p:spPr>
          <a:xfrm>
            <a:off x="8764067" y="3448594"/>
            <a:ext cx="1503731" cy="738051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818931" y="3503458"/>
            <a:ext cx="1394003" cy="62832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15" dirty="0">
                <a:solidFill>
                  <a:srgbClr val="0F172A"/>
                </a:solidFill>
              </a:rPr>
              <a:t>Yes si trabajó</a:t>
            </a:r>
            <a:endParaRPr lang="en-US" sz="815" dirty="0"/>
          </a:p>
        </p:txBody>
      </p:sp>
      <p:sp>
        <p:nvSpPr>
          <p:cNvPr id="52" name="Shape 50"/>
          <p:cNvSpPr/>
          <p:nvPr/>
        </p:nvSpPr>
        <p:spPr>
          <a:xfrm>
            <a:off x="10267798" y="3448594"/>
            <a:ext cx="1619402" cy="738051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322662" y="3503458"/>
            <a:ext cx="1509674" cy="62832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15" dirty="0">
                <a:solidFill>
                  <a:srgbClr val="0F172A"/>
                </a:solidFill>
              </a:rPr>
              <a:t>No mueve cola; crea crédito</a:t>
            </a:r>
            <a:endParaRPr lang="en-US" sz="815" dirty="0"/>
          </a:p>
        </p:txBody>
      </p:sp>
      <p:sp>
        <p:nvSpPr>
          <p:cNvPr id="54" name="Shape 52"/>
          <p:cNvSpPr/>
          <p:nvPr/>
        </p:nvSpPr>
        <p:spPr>
          <a:xfrm>
            <a:off x="320040" y="4186646"/>
            <a:ext cx="2429104" cy="738051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74904" y="4241510"/>
            <a:ext cx="2319376" cy="62832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15" dirty="0">
                <a:solidFill>
                  <a:srgbClr val="0F172A"/>
                </a:solidFill>
              </a:rPr>
              <a:t>Fuera de horario</a:t>
            </a:r>
            <a:endParaRPr lang="en-US" sz="815" dirty="0"/>
          </a:p>
        </p:txBody>
      </p:sp>
      <p:sp>
        <p:nvSpPr>
          <p:cNvPr id="56" name="Shape 54"/>
          <p:cNvSpPr/>
          <p:nvPr/>
        </p:nvSpPr>
        <p:spPr>
          <a:xfrm>
            <a:off x="2749144" y="4186646"/>
            <a:ext cx="1850746" cy="738051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804008" y="4241510"/>
            <a:ext cx="1741018" cy="62832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15" dirty="0">
                <a:solidFill>
                  <a:srgbClr val="0F172A"/>
                </a:solidFill>
              </a:rPr>
              <a:t>AfterHours</a:t>
            </a:r>
            <a:endParaRPr lang="en-US" sz="815" dirty="0"/>
          </a:p>
        </p:txBody>
      </p:sp>
      <p:sp>
        <p:nvSpPr>
          <p:cNvPr id="58" name="Shape 56"/>
          <p:cNvSpPr/>
          <p:nvPr/>
        </p:nvSpPr>
        <p:spPr>
          <a:xfrm>
            <a:off x="4599889" y="4186646"/>
            <a:ext cx="2544775" cy="738051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654753" y="4241510"/>
            <a:ext cx="2435047" cy="62832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15" dirty="0">
                <a:solidFill>
                  <a:srgbClr val="0F172A"/>
                </a:solidFill>
              </a:rPr>
              <a:t>Persona que atendió</a:t>
            </a:r>
            <a:endParaRPr lang="en-US" sz="815" dirty="0"/>
          </a:p>
        </p:txBody>
      </p:sp>
      <p:sp>
        <p:nvSpPr>
          <p:cNvPr id="60" name="Shape 58"/>
          <p:cNvSpPr/>
          <p:nvPr/>
        </p:nvSpPr>
        <p:spPr>
          <a:xfrm>
            <a:off x="7144664" y="4186646"/>
            <a:ext cx="1619402" cy="738051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199528" y="4241510"/>
            <a:ext cx="1509674" cy="62832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15" dirty="0">
                <a:solidFill>
                  <a:srgbClr val="0F172A"/>
                </a:solidFill>
              </a:rPr>
              <a:t>Vacío</a:t>
            </a:r>
            <a:endParaRPr lang="en-US" sz="815" dirty="0"/>
          </a:p>
        </p:txBody>
      </p:sp>
      <p:sp>
        <p:nvSpPr>
          <p:cNvPr id="62" name="Shape 60"/>
          <p:cNvSpPr/>
          <p:nvPr/>
        </p:nvSpPr>
        <p:spPr>
          <a:xfrm>
            <a:off x="8764067" y="4186646"/>
            <a:ext cx="1503731" cy="738051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818931" y="4241510"/>
            <a:ext cx="1394003" cy="62832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15" dirty="0">
                <a:solidFill>
                  <a:srgbClr val="0F172A"/>
                </a:solidFill>
              </a:rPr>
              <a:t>Yes</a:t>
            </a:r>
            <a:endParaRPr lang="en-US" sz="815" dirty="0"/>
          </a:p>
        </p:txBody>
      </p:sp>
      <p:sp>
        <p:nvSpPr>
          <p:cNvPr id="64" name="Shape 62"/>
          <p:cNvSpPr/>
          <p:nvPr/>
        </p:nvSpPr>
        <p:spPr>
          <a:xfrm>
            <a:off x="10267798" y="4186646"/>
            <a:ext cx="1619402" cy="738051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0322662" y="4241510"/>
            <a:ext cx="1509674" cy="62832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15" dirty="0">
                <a:solidFill>
                  <a:srgbClr val="0F172A"/>
                </a:solidFill>
              </a:rPr>
              <a:t>No mueve cola; crea crédito</a:t>
            </a:r>
            <a:endParaRPr lang="en-US" sz="815" dirty="0"/>
          </a:p>
        </p:txBody>
      </p:sp>
      <p:sp>
        <p:nvSpPr>
          <p:cNvPr id="66" name="Shape 64"/>
          <p:cNvSpPr/>
          <p:nvPr/>
        </p:nvSpPr>
        <p:spPr>
          <a:xfrm>
            <a:off x="320040" y="4924697"/>
            <a:ext cx="2429104" cy="738051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74904" y="4979561"/>
            <a:ext cx="2319376" cy="62832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15" dirty="0">
                <a:solidFill>
                  <a:srgbClr val="0F172A"/>
                </a:solidFill>
              </a:rPr>
              <a:t>Fin de semana</a:t>
            </a:r>
            <a:endParaRPr lang="en-US" sz="815" dirty="0"/>
          </a:p>
        </p:txBody>
      </p:sp>
      <p:sp>
        <p:nvSpPr>
          <p:cNvPr id="68" name="Shape 66"/>
          <p:cNvSpPr/>
          <p:nvPr/>
        </p:nvSpPr>
        <p:spPr>
          <a:xfrm>
            <a:off x="2749144" y="4924697"/>
            <a:ext cx="1850746" cy="738051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804008" y="4979561"/>
            <a:ext cx="1741018" cy="62832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15" dirty="0">
                <a:solidFill>
                  <a:srgbClr val="0F172A"/>
                </a:solidFill>
              </a:rPr>
              <a:t>Weekend</a:t>
            </a:r>
            <a:endParaRPr lang="en-US" sz="815" dirty="0"/>
          </a:p>
        </p:txBody>
      </p:sp>
      <p:sp>
        <p:nvSpPr>
          <p:cNvPr id="70" name="Shape 68"/>
          <p:cNvSpPr/>
          <p:nvPr/>
        </p:nvSpPr>
        <p:spPr>
          <a:xfrm>
            <a:off x="4599889" y="4924697"/>
            <a:ext cx="2544775" cy="738051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654753" y="4979561"/>
            <a:ext cx="2435047" cy="62832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15" dirty="0">
                <a:solidFill>
                  <a:srgbClr val="0F172A"/>
                </a:solidFill>
              </a:rPr>
              <a:t>On-call</a:t>
            </a:r>
            <a:endParaRPr lang="en-US" sz="815" dirty="0"/>
          </a:p>
        </p:txBody>
      </p:sp>
      <p:sp>
        <p:nvSpPr>
          <p:cNvPr id="72" name="Shape 70"/>
          <p:cNvSpPr/>
          <p:nvPr/>
        </p:nvSpPr>
        <p:spPr>
          <a:xfrm>
            <a:off x="7144664" y="4924697"/>
            <a:ext cx="1619402" cy="738051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199528" y="4979561"/>
            <a:ext cx="1509674" cy="62832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15" dirty="0">
                <a:solidFill>
                  <a:srgbClr val="0F172A"/>
                </a:solidFill>
              </a:rPr>
              <a:t>Vacío</a:t>
            </a:r>
            <a:endParaRPr lang="en-US" sz="815" dirty="0"/>
          </a:p>
        </p:txBody>
      </p:sp>
      <p:sp>
        <p:nvSpPr>
          <p:cNvPr id="74" name="Shape 72"/>
          <p:cNvSpPr/>
          <p:nvPr/>
        </p:nvSpPr>
        <p:spPr>
          <a:xfrm>
            <a:off x="8764067" y="4924697"/>
            <a:ext cx="1503731" cy="738051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818931" y="4979561"/>
            <a:ext cx="1394003" cy="62832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15" dirty="0">
                <a:solidFill>
                  <a:srgbClr val="0F172A"/>
                </a:solidFill>
              </a:rPr>
              <a:t>Yes</a:t>
            </a:r>
            <a:endParaRPr lang="en-US" sz="815" dirty="0"/>
          </a:p>
        </p:txBody>
      </p:sp>
      <p:sp>
        <p:nvSpPr>
          <p:cNvPr id="76" name="Shape 74"/>
          <p:cNvSpPr/>
          <p:nvPr/>
        </p:nvSpPr>
        <p:spPr>
          <a:xfrm>
            <a:off x="10267798" y="4924697"/>
            <a:ext cx="1619402" cy="738051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0322662" y="4979561"/>
            <a:ext cx="1509674" cy="62832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15" dirty="0">
                <a:solidFill>
                  <a:srgbClr val="0F172A"/>
                </a:solidFill>
              </a:rPr>
              <a:t>No mueve cola; crea crédito</a:t>
            </a:r>
            <a:endParaRPr lang="en-US" sz="815" dirty="0"/>
          </a:p>
        </p:txBody>
      </p:sp>
      <p:sp>
        <p:nvSpPr>
          <p:cNvPr id="78" name="Shape 76"/>
          <p:cNvSpPr/>
          <p:nvPr/>
        </p:nvSpPr>
        <p:spPr>
          <a:xfrm>
            <a:off x="320040" y="5662749"/>
            <a:ext cx="2429104" cy="738051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74904" y="5717613"/>
            <a:ext cx="2319376" cy="62832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15" dirty="0">
                <a:solidFill>
                  <a:srgbClr val="0F172A"/>
                </a:solidFill>
              </a:rPr>
              <a:t>Correo merged/requisito</a:t>
            </a:r>
            <a:endParaRPr lang="en-US" sz="815" dirty="0"/>
          </a:p>
        </p:txBody>
      </p:sp>
      <p:sp>
        <p:nvSpPr>
          <p:cNvPr id="80" name="Shape 78"/>
          <p:cNvSpPr/>
          <p:nvPr/>
        </p:nvSpPr>
        <p:spPr>
          <a:xfrm>
            <a:off x="2749144" y="5662749"/>
            <a:ext cx="1850746" cy="738051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804008" y="5717613"/>
            <a:ext cx="1741018" cy="62832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15" dirty="0">
                <a:solidFill>
                  <a:srgbClr val="0F172A"/>
                </a:solidFill>
              </a:rPr>
              <a:t>MergedEmail</a:t>
            </a:r>
            <a:endParaRPr lang="en-US" sz="815" dirty="0"/>
          </a:p>
        </p:txBody>
      </p:sp>
      <p:sp>
        <p:nvSpPr>
          <p:cNvPr id="82" name="Shape 80"/>
          <p:cNvSpPr/>
          <p:nvPr/>
        </p:nvSpPr>
        <p:spPr>
          <a:xfrm>
            <a:off x="4599889" y="5662749"/>
            <a:ext cx="2544775" cy="738051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654753" y="5717613"/>
            <a:ext cx="2435047" cy="62832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15" dirty="0">
                <a:solidFill>
                  <a:srgbClr val="0F172A"/>
                </a:solidFill>
              </a:rPr>
              <a:t>Solo si aplica</a:t>
            </a:r>
            <a:endParaRPr lang="en-US" sz="815" dirty="0"/>
          </a:p>
        </p:txBody>
      </p:sp>
      <p:sp>
        <p:nvSpPr>
          <p:cNvPr id="84" name="Shape 82"/>
          <p:cNvSpPr/>
          <p:nvPr/>
        </p:nvSpPr>
        <p:spPr>
          <a:xfrm>
            <a:off x="7144664" y="5662749"/>
            <a:ext cx="1619402" cy="738051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199528" y="5717613"/>
            <a:ext cx="1509674" cy="62832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15" dirty="0">
                <a:solidFill>
                  <a:srgbClr val="0F172A"/>
                </a:solidFill>
              </a:rPr>
              <a:t>Obligatorio</a:t>
            </a:r>
            <a:endParaRPr lang="en-US" sz="815" dirty="0"/>
          </a:p>
        </p:txBody>
      </p:sp>
      <p:sp>
        <p:nvSpPr>
          <p:cNvPr id="86" name="Shape 84"/>
          <p:cNvSpPr/>
          <p:nvPr/>
        </p:nvSpPr>
        <p:spPr>
          <a:xfrm>
            <a:off x="8764067" y="5662749"/>
            <a:ext cx="1503731" cy="738051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8818931" y="5717613"/>
            <a:ext cx="1394003" cy="62832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15" dirty="0">
                <a:solidFill>
                  <a:srgbClr val="0F172A"/>
                </a:solidFill>
              </a:rPr>
              <a:t>No por defecto</a:t>
            </a:r>
            <a:endParaRPr lang="en-US" sz="815" dirty="0"/>
          </a:p>
        </p:txBody>
      </p:sp>
      <p:sp>
        <p:nvSpPr>
          <p:cNvPr id="88" name="Shape 86"/>
          <p:cNvSpPr/>
          <p:nvPr/>
        </p:nvSpPr>
        <p:spPr>
          <a:xfrm>
            <a:off x="10267798" y="5662749"/>
            <a:ext cx="1619402" cy="738051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10322662" y="5717613"/>
            <a:ext cx="1509674" cy="62832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15" dirty="0">
                <a:solidFill>
                  <a:srgbClr val="0F172A"/>
                </a:solidFill>
              </a:rPr>
              <a:t>No mueve cola</a:t>
            </a:r>
            <a:endParaRPr lang="en-US" sz="815" dirty="0"/>
          </a:p>
        </p:txBody>
      </p:sp>
      <p:sp>
        <p:nvSpPr>
          <p:cNvPr id="90" name="Text 88"/>
          <p:cNvSpPr/>
          <p:nvPr/>
        </p:nvSpPr>
        <p:spPr>
          <a:xfrm>
            <a:off x="502920" y="65196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Manual operativo de cola de incidentes · 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38912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Ejemplos de registro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30352" y="896112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Tres casos frecuentes y cómo deben quedar.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508760"/>
            <a:ext cx="3474720" cy="42062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508760"/>
            <a:ext cx="91440" cy="42062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3677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</a:rPr>
              <a:t>Ejemplo 1 · Normal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1984248"/>
            <a:ext cx="3108960" cy="3566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</a:rPr>
              <a:t>La cola iba en Daniel.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</a:rPr>
              <a:t>Title: INC003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</a:rPr>
              <a:t>EntryType: Normal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</a:rPr>
              <a:t>Status: New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</a:rPr>
              <a:t>Counted: Yes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</a:rPr>
              <a:t>Resultado: William recibe el ticket.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4370832" y="1508760"/>
            <a:ext cx="3474720" cy="42062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70832" y="1508760"/>
            <a:ext cx="91440" cy="4206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9432" y="163677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</a:rPr>
              <a:t>Ejemplo 2 · ManualOverride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99432" y="1984248"/>
            <a:ext cx="3108960" cy="3566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</a:rPr>
              <a:t>La cola iba en Daniel, pero se asignó a Cristian.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</a:rPr>
              <a:t>EntryType: ManualOverride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</a:rPr>
              <a:t>AlreadyAssigned: Cristian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</a:rPr>
              <a:t>Counted: Yes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</a:rPr>
              <a:t>Resultado: cola sigue en Daniel y Cristian obtiene crédito.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8138160" y="1508760"/>
            <a:ext cx="3474720" cy="42062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0" y="1508760"/>
            <a:ext cx="91440" cy="42062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66760" y="163677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</a:rPr>
              <a:t>Ejemplo 3 · MergedEmail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366760" y="1984248"/>
            <a:ext cx="3108960" cy="3566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</a:rPr>
              <a:t>Llegó correo con código especial.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</a:rPr>
              <a:t>EntryType: MergedEmail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</a:rPr>
              <a:t>EmailCode: MERGED-123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</a:rPr>
              <a:t>Counted: No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</a:rPr>
              <a:t>Resultado: no impacta la cola.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502920" y="65196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Manual operativo de cola de incidentes · 12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38912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Errores que deben evitarse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30352" y="896112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Estos errores dañan la cola o generan notificaciones incorrectas.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3584448" cy="777240"/>
          </a:xfrm>
          <a:prstGeom prst="rect">
            <a:avLst/>
          </a:prstGeom>
          <a:solidFill>
            <a:srgbClr val="0B1F3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7784" y="1380744"/>
            <a:ext cx="3474720" cy="6675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FFFFFF"/>
                </a:solidFill>
              </a:rPr>
              <a:t>Error</a:t>
            </a:r>
            <a:endParaRPr lang="en-US" sz="930" dirty="0"/>
          </a:p>
        </p:txBody>
      </p:sp>
      <p:sp>
        <p:nvSpPr>
          <p:cNvPr id="8" name="Shape 6"/>
          <p:cNvSpPr/>
          <p:nvPr/>
        </p:nvSpPr>
        <p:spPr>
          <a:xfrm>
            <a:off x="4087368" y="1325880"/>
            <a:ext cx="3696462" cy="777240"/>
          </a:xfrm>
          <a:prstGeom prst="rect">
            <a:avLst/>
          </a:prstGeom>
          <a:solidFill>
            <a:srgbClr val="0B1F3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42232" y="1380744"/>
            <a:ext cx="3586734" cy="6675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FFFFFF"/>
                </a:solidFill>
              </a:rPr>
              <a:t>Por qué es grave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7783830" y="1325880"/>
            <a:ext cx="3920490" cy="777240"/>
          </a:xfrm>
          <a:prstGeom prst="rect">
            <a:avLst/>
          </a:prstGeom>
          <a:solidFill>
            <a:srgbClr val="0B1F3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38694" y="1380744"/>
            <a:ext cx="3810762" cy="6675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FFFFFF"/>
                </a:solidFill>
              </a:rPr>
              <a:t>Qué hacer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502920" y="2103120"/>
            <a:ext cx="3584448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7784" y="2157984"/>
            <a:ext cx="3474720" cy="6675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Registrar como Normal un ticket asignado manualmente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4087368" y="2103120"/>
            <a:ext cx="3696462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42232" y="2157984"/>
            <a:ext cx="3586734" cy="6675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Mueve la cola de forma injusta.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7783830" y="2103120"/>
            <a:ext cx="392049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38694" y="2157984"/>
            <a:ext cx="3810762" cy="6675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Usar ManualOverride o India.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502920" y="2880360"/>
            <a:ext cx="3584448" cy="7772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7784" y="2935224"/>
            <a:ext cx="3474720" cy="6675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Dejar Status vacío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4087368" y="2880360"/>
            <a:ext cx="3696462" cy="7772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42232" y="2935224"/>
            <a:ext cx="3586734" cy="6675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El flujo puede no procesar correctamente.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7783830" y="2880360"/>
            <a:ext cx="3920490" cy="7772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38694" y="2935224"/>
            <a:ext cx="3810762" cy="6675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Crear siempre con Status = New.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502920" y="3657600"/>
            <a:ext cx="3584448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7784" y="3712464"/>
            <a:ext cx="3474720" cy="6675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No llenar AlreadyAssigned en excepciones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4087368" y="3657600"/>
            <a:ext cx="3696462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42232" y="3712464"/>
            <a:ext cx="3586734" cy="6675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No se sabe a quién compensar.</a:t>
            </a:r>
            <a:endParaRPr lang="en-US" sz="930" dirty="0"/>
          </a:p>
        </p:txBody>
      </p:sp>
      <p:sp>
        <p:nvSpPr>
          <p:cNvPr id="28" name="Shape 26"/>
          <p:cNvSpPr/>
          <p:nvPr/>
        </p:nvSpPr>
        <p:spPr>
          <a:xfrm>
            <a:off x="7783830" y="3657600"/>
            <a:ext cx="392049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38694" y="3712464"/>
            <a:ext cx="3810762" cy="6675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Completar Code y Name.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02920" y="4434840"/>
            <a:ext cx="3584448" cy="7772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7784" y="4489704"/>
            <a:ext cx="3474720" cy="6675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Marcar Counted = Yes en casos sin trabajo real</a:t>
            </a:r>
            <a:endParaRPr lang="en-US" sz="930" dirty="0"/>
          </a:p>
        </p:txBody>
      </p:sp>
      <p:sp>
        <p:nvSpPr>
          <p:cNvPr id="32" name="Shape 30"/>
          <p:cNvSpPr/>
          <p:nvPr/>
        </p:nvSpPr>
        <p:spPr>
          <a:xfrm>
            <a:off x="4087368" y="4434840"/>
            <a:ext cx="3696462" cy="7772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42232" y="4489704"/>
            <a:ext cx="3586734" cy="6675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Crea créditos indebidos.</a:t>
            </a:r>
            <a:endParaRPr lang="en-US" sz="930" dirty="0"/>
          </a:p>
        </p:txBody>
      </p:sp>
      <p:sp>
        <p:nvSpPr>
          <p:cNvPr id="34" name="Shape 32"/>
          <p:cNvSpPr/>
          <p:nvPr/>
        </p:nvSpPr>
        <p:spPr>
          <a:xfrm>
            <a:off x="7783830" y="4434840"/>
            <a:ext cx="3920490" cy="7772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38694" y="4489704"/>
            <a:ext cx="3810762" cy="6675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Usar No si fue merged, duplicado o sin acción.</a:t>
            </a:r>
            <a:endParaRPr lang="en-US" sz="930" dirty="0"/>
          </a:p>
        </p:txBody>
      </p:sp>
      <p:sp>
        <p:nvSpPr>
          <p:cNvPr id="36" name="Shape 34"/>
          <p:cNvSpPr/>
          <p:nvPr/>
        </p:nvSpPr>
        <p:spPr>
          <a:xfrm>
            <a:off x="502920" y="5212080"/>
            <a:ext cx="3584448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7784" y="5266944"/>
            <a:ext cx="3474720" cy="6675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Editar QueueState manualmente</a:t>
            </a:r>
            <a:endParaRPr lang="en-US" sz="930" dirty="0"/>
          </a:p>
        </p:txBody>
      </p:sp>
      <p:sp>
        <p:nvSpPr>
          <p:cNvPr id="38" name="Shape 36"/>
          <p:cNvSpPr/>
          <p:nvPr/>
        </p:nvSpPr>
        <p:spPr>
          <a:xfrm>
            <a:off x="4087368" y="5212080"/>
            <a:ext cx="3696462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42232" y="5266944"/>
            <a:ext cx="3586734" cy="6675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Rompe el orden oficial.</a:t>
            </a:r>
            <a:endParaRPr lang="en-US" sz="930" dirty="0"/>
          </a:p>
        </p:txBody>
      </p:sp>
      <p:sp>
        <p:nvSpPr>
          <p:cNvPr id="40" name="Shape 38"/>
          <p:cNvSpPr/>
          <p:nvPr/>
        </p:nvSpPr>
        <p:spPr>
          <a:xfrm>
            <a:off x="7783830" y="5212080"/>
            <a:ext cx="392049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838694" y="5266944"/>
            <a:ext cx="3810762" cy="6675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Solo líder o responsable autorizado.</a:t>
            </a:r>
            <a:endParaRPr lang="en-US" sz="930" dirty="0"/>
          </a:p>
        </p:txBody>
      </p:sp>
      <p:sp>
        <p:nvSpPr>
          <p:cNvPr id="42" name="Text 40"/>
          <p:cNvSpPr/>
          <p:nvPr/>
        </p:nvSpPr>
        <p:spPr>
          <a:xfrm>
            <a:off x="502920" y="65196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Manual operativo de cola de incidentes · 13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38912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Checklist antes de guardar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30352" y="896112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Validar en 20 segundos antes de crear el ticket.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005840" y="1417320"/>
            <a:ext cx="292608" cy="29260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435608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63040" y="1399032"/>
            <a:ext cx="9692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¿Title tiene el INC o código correcto?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005840" y="2103120"/>
            <a:ext cx="292608" cy="29260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2121408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63040" y="2084832"/>
            <a:ext cx="9692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¿EntryType corresponde al caso real?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005840" y="2788920"/>
            <a:ext cx="292608" cy="29260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2807208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63040" y="2770632"/>
            <a:ext cx="9692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¿Status está en New?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005840" y="3474720"/>
            <a:ext cx="292608" cy="29260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3493008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463040" y="3456432"/>
            <a:ext cx="9692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¿Counted está bien definido?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005840" y="4160520"/>
            <a:ext cx="292608" cy="29260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4178808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463040" y="4142232"/>
            <a:ext cx="9692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Si es excepción: ¿AlreadyAssignedCode y Name están completos?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005840" y="4846320"/>
            <a:ext cx="292608" cy="29260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4864608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463040" y="4828032"/>
            <a:ext cx="9692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Si es MergedEmail: ¿EmailCode está completo?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40080" y="5806440"/>
            <a:ext cx="11109960" cy="530352"/>
          </a:xfrm>
          <a:prstGeom prst="roundRect">
            <a:avLst>
              <a:gd name="adj" fmla="val 17241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5916168"/>
            <a:ext cx="10744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EA580C"/>
                </a:solidFill>
              </a:rPr>
              <a:t>Si hay duda entre Normal y excepción, no usar Normal: validar primero con el Queue Monitor.</a:t>
            </a:r>
            <a:endParaRPr lang="en-US" sz="1120" dirty="0"/>
          </a:p>
        </p:txBody>
      </p:sp>
      <p:sp>
        <p:nvSpPr>
          <p:cNvPr id="26" name="Text 24"/>
          <p:cNvSpPr/>
          <p:nvPr/>
        </p:nvSpPr>
        <p:spPr>
          <a:xfrm>
            <a:off x="502920" y="65196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Manual operativo de cola de incidentes · 14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38912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revisar después de guardar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30352" y="896112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El usuario no toca la lógica, pero sí puede validar el resultado.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32918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463040"/>
            <a:ext cx="91440" cy="1325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59105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</a:rPr>
              <a:t>En Incidents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60120" y="1938528"/>
            <a:ext cx="292608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</a:rPr>
              <a:t>El registro debe pasar de New a Assigned o CreditCreated según el caso.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4434840" y="1463040"/>
            <a:ext cx="32918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1463040"/>
            <a:ext cx="91440" cy="1325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59105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</a:rPr>
              <a:t>En Teams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663440" y="1938528"/>
            <a:ext cx="292608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</a:rPr>
              <a:t>Debe llegar un único mensaje con el asignado o el crédito generado.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8138160" y="1463040"/>
            <a:ext cx="32918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0" y="1463040"/>
            <a:ext cx="91440" cy="13258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66760" y="159105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</a:rPr>
              <a:t>En cola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366760" y="1938528"/>
            <a:ext cx="292608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</a:rPr>
              <a:t>Solo los tickets Normal deben mover la cola. Las excepciones no deben avanzar QueueState.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914400" y="4206240"/>
            <a:ext cx="10332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Si el mensaje no llega o llega repetido, no crear más pruebas. Reportar al responsable del flujo con el número del ticket creado.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65196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Manual operativo de cola de incidentes · 15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38912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Referencias técnicas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30352" y="896112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Documentación base usada para el diseño del proceso.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22960" y="1554480"/>
            <a:ext cx="1051560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554480"/>
            <a:ext cx="91440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682496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</a:rPr>
              <a:t>Microsoft Lists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51560" y="2029968"/>
            <a:ext cx="101498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</a:rPr>
              <a:t>Crear y administrar listas estructuradas para seguimiento operativo.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822960" y="2743200"/>
            <a:ext cx="1051560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2743200"/>
            <a:ext cx="91440" cy="8229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2871216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</a:rPr>
              <a:t>Power Automate + SharePoint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051560" y="3218688"/>
            <a:ext cx="101498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</a:rPr>
              <a:t>Triggers y acciones para elementos creados en listas.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822960" y="3931920"/>
            <a:ext cx="1051560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931920"/>
            <a:ext cx="91440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4059936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</a:rPr>
              <a:t>Microsoft Teams connector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051560" y="4407408"/>
            <a:ext cx="101498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</a:rPr>
              <a:t>Enviar mensajes a canales o chats desde Power Automate.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822960" y="56235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64748B"/>
                </a:solidFill>
              </a:rPr>
              <a:t>Fuentes: support.microsoft.com · learn.microsoft.com/sharepoint · learn.microsoft.com/power-automate · learn.microsoft.com/connectors/teams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502920" y="65196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Manual operativo de cola de incidentes · 16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Manual operativo - Cola de incidentes en Microsoft Lists</dc:title>
  <dc:subject>Manual operativo para registro de tickets en Microsoft Lists</dc:subject>
  <dc:creator>OpenAI</dc:creator>
  <cp:lastModifiedBy>OpenAI</cp:lastModifiedBy>
  <cp:revision>1</cp:revision>
  <dcterms:created xsi:type="dcterms:W3CDTF">2026-05-25T18:03:59Z</dcterms:created>
  <dcterms:modified xsi:type="dcterms:W3CDTF">2026-05-25T18:03:59Z</dcterms:modified>
</cp:coreProperties>
</file>