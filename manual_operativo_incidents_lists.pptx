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3" r:id="rId10"/>
    <p:sldId id="264" r:id="rId11"/>
    <p:sldId id="266" r:id="rId12"/>
    <p:sldId id="267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1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108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45BB8-2717-0DA5-4CC0-2C55A43EE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183AC-DF2D-DA28-96B7-5AE9C2535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33EEFD-E64A-D122-39AE-2ED19C2D7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7A0DB-6C6F-ED42-EA63-91162804C9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9770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consultadas:
- Microsoft Lists: https://support.microsoft.com/en-us/office/create-a-list-0d397414-d95f-41eb-addd-5e6eff41b083
- SharePoint connector for Power Automate: https://learn.microsoft.com/en-us/sharepoint/dev/business-apps/power-automate/sharepoint-connector-actions-triggers
- Send a message in Teams using Power Automate: https://learn.microsoft.com/en-us/power-automate/teams/send-a-message-in-teams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apgemini-my.sharepoint.com/:l:/r/personal/cristian_fandino-mesa_capgemini_com/Lists/Incidents?e=i2hmv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apgemini-my.sharepoint.com/:l:/r/personal/cristian_fandino-mesa_capgemini_com/Lists/Credits?e=eHluf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operativo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334155"/>
                </a:solidFill>
              </a:rPr>
              <a:t>Registro de tickets en Microsoft Lists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94360" y="19385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Uso del equipo · Cola de asignación · Casos especiales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98620" y="3643884"/>
            <a:ext cx="100584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6182868" y="3643884"/>
            <a:ext cx="1033272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3284220" y="3022092"/>
            <a:ext cx="1051560" cy="1234440"/>
          </a:xfrm>
          <a:prstGeom prst="roundRect">
            <a:avLst>
              <a:gd name="adj" fmla="val 6957"/>
            </a:avLst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448812" y="3131820"/>
            <a:ext cx="722376" cy="10149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</a:rPr>
              <a:t>1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</a:rPr>
              <a:t>Crear ticket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295900" y="3022092"/>
            <a:ext cx="1051560" cy="1234440"/>
          </a:xfrm>
          <a:prstGeom prst="roundRect">
            <a:avLst>
              <a:gd name="adj" fmla="val 695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5460492" y="3131820"/>
            <a:ext cx="722376" cy="10149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</a:rPr>
              <a:t>2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</a:rPr>
              <a:t>Flujo asigna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07580" y="3022092"/>
            <a:ext cx="1051560" cy="1234440"/>
          </a:xfrm>
          <a:prstGeom prst="roundRect">
            <a:avLst>
              <a:gd name="adj" fmla="val 6957"/>
            </a:avLst>
          </a:prstGeom>
          <a:solidFill>
            <a:srgbClr val="F3E8FF"/>
          </a:solidFill>
          <a:ln w="127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7472172" y="3131820"/>
            <a:ext cx="722376" cy="10149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</a:rPr>
              <a:t>3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 err="1">
                <a:solidFill>
                  <a:srgbClr val="0B1F3A"/>
                </a:solidFill>
              </a:rPr>
              <a:t>Mensaje</a:t>
            </a:r>
            <a:r>
              <a:rPr lang="en-US" sz="1300" b="1" dirty="0">
                <a:solidFill>
                  <a:srgbClr val="0B1F3A"/>
                </a:solidFill>
              </a:rPr>
              <a:t> de Teams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Alcance del manual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Qué debe hacer el equipo y qué no debe tocar.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91440" cy="1463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868680" y="16824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Lo que sí hace el equipo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2029968"/>
            <a:ext cx="30175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Crear el registro en la lista Incidents con el tipo correcto y los datos mínimos del caso.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389120" y="1554480"/>
            <a:ext cx="91440" cy="1463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617720" y="16824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Lo que hace el flujo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17720" y="2029968"/>
            <a:ext cx="30175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Calcula el asignado normal, actualiza el ticket y envía la notificación al canal de Teams.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91440" cy="14630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8366760" y="16824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Lo que no toca el equipo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66760" y="2029968"/>
            <a:ext cx="30175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No modificar Power Automate, QueueState ni la lógica de </a:t>
            </a:r>
            <a:r>
              <a:rPr lang="en-US" sz="1080" dirty="0" err="1">
                <a:solidFill>
                  <a:srgbClr val="334155"/>
                </a:solidFill>
              </a:rPr>
              <a:t>créditos</a:t>
            </a:r>
            <a:r>
              <a:rPr lang="en-US" sz="1080" dirty="0">
                <a:solidFill>
                  <a:srgbClr val="334155"/>
                </a:solidFill>
              </a:rPr>
              <a:t> (a </a:t>
            </a:r>
            <a:r>
              <a:rPr lang="en-US" sz="1080" dirty="0" err="1">
                <a:solidFill>
                  <a:srgbClr val="334155"/>
                </a:solidFill>
              </a:rPr>
              <a:t>menos</a:t>
            </a:r>
            <a:r>
              <a:rPr lang="en-US" sz="1080" dirty="0">
                <a:solidFill>
                  <a:srgbClr val="334155"/>
                </a:solidFill>
              </a:rPr>
              <a:t> </a:t>
            </a:r>
            <a:r>
              <a:rPr lang="en-US" sz="1080" dirty="0" err="1">
                <a:solidFill>
                  <a:srgbClr val="334155"/>
                </a:solidFill>
              </a:rPr>
              <a:t>que</a:t>
            </a:r>
            <a:r>
              <a:rPr lang="en-US" sz="1080" dirty="0">
                <a:solidFill>
                  <a:srgbClr val="334155"/>
                </a:solidFill>
              </a:rPr>
              <a:t> sea </a:t>
            </a:r>
            <a:r>
              <a:rPr lang="en-US" sz="1080" dirty="0" err="1">
                <a:solidFill>
                  <a:srgbClr val="334155"/>
                </a:solidFill>
              </a:rPr>
              <a:t>caso</a:t>
            </a:r>
            <a:r>
              <a:rPr lang="en-US" sz="1080" dirty="0">
                <a:solidFill>
                  <a:srgbClr val="334155"/>
                </a:solidFill>
              </a:rPr>
              <a:t> especial).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1109960" cy="530352"/>
          </a:xfrm>
          <a:prstGeom prst="roundRect">
            <a:avLst>
              <a:gd name="adj" fmla="val 17241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822960" y="4041648"/>
            <a:ext cx="1074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b="1" dirty="0">
                <a:solidFill>
                  <a:srgbClr val="EA580C"/>
                </a:solidFill>
              </a:rPr>
              <a:t>Regla central: si el ticket fue asignado fuera de la cola normal, no se mueve la cola; se registra </a:t>
            </a:r>
            <a:r>
              <a:rPr lang="en-US" sz="1120" b="1" dirty="0" err="1">
                <a:solidFill>
                  <a:srgbClr val="EA580C"/>
                </a:solidFill>
              </a:rPr>
              <a:t>como</a:t>
            </a:r>
            <a:r>
              <a:rPr lang="en-US" sz="1120" b="1" dirty="0">
                <a:solidFill>
                  <a:srgbClr val="EA580C"/>
                </a:solidFill>
              </a:rPr>
              <a:t> </a:t>
            </a:r>
            <a:r>
              <a:rPr lang="en-US" sz="1120" b="1" dirty="0" err="1">
                <a:solidFill>
                  <a:srgbClr val="EA580C"/>
                </a:solidFill>
              </a:rPr>
              <a:t>excepción</a:t>
            </a:r>
            <a:r>
              <a:rPr lang="en-US" sz="1120" b="1" dirty="0">
                <a:solidFill>
                  <a:srgbClr val="EA580C"/>
                </a:solidFill>
              </a:rPr>
              <a:t> y se </a:t>
            </a:r>
            <a:r>
              <a:rPr lang="en-US" sz="1120" b="1" dirty="0" err="1">
                <a:solidFill>
                  <a:srgbClr val="EA580C"/>
                </a:solidFill>
              </a:rPr>
              <a:t>debe</a:t>
            </a:r>
            <a:r>
              <a:rPr lang="en-US" sz="1120" b="1" dirty="0">
                <a:solidFill>
                  <a:srgbClr val="EA580C"/>
                </a:solidFill>
              </a:rPr>
              <a:t> de registrar </a:t>
            </a:r>
            <a:r>
              <a:rPr lang="en-US" sz="1120" b="1" dirty="0" err="1">
                <a:solidFill>
                  <a:srgbClr val="EA580C"/>
                </a:solidFill>
              </a:rPr>
              <a:t>en</a:t>
            </a:r>
            <a:r>
              <a:rPr lang="en-US" sz="1120" b="1" dirty="0">
                <a:solidFill>
                  <a:srgbClr val="EA580C"/>
                </a:solidFill>
              </a:rPr>
              <a:t> la Lista </a:t>
            </a:r>
            <a:r>
              <a:rPr lang="en-US" sz="1120" b="1" dirty="0" err="1">
                <a:solidFill>
                  <a:srgbClr val="EA580C"/>
                </a:solidFill>
              </a:rPr>
              <a:t>Creditos</a:t>
            </a:r>
            <a:r>
              <a:rPr lang="en-US" sz="1120" b="1" dirty="0">
                <a:solidFill>
                  <a:srgbClr val="EA580C"/>
                </a:solidFill>
              </a:rPr>
              <a:t>.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operativo diario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El usuario solo registra. La automatización decide y notifica.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468880" y="2880360"/>
            <a:ext cx="9601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4892040" y="2880360"/>
            <a:ext cx="9601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7315200" y="2880360"/>
            <a:ext cx="9601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9738360" y="2880360"/>
            <a:ext cx="9144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94360" y="214884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758952" y="2258568"/>
            <a:ext cx="149961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1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Registrar en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Incidents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66160" y="2148840"/>
            <a:ext cx="1188720" cy="1463040"/>
          </a:xfrm>
          <a:prstGeom prst="roundRect">
            <a:avLst>
              <a:gd name="adj" fmla="val 615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730752" y="2258568"/>
            <a:ext cx="85953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2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Flow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9320" y="2148840"/>
            <a:ext cx="1188720" cy="1463040"/>
          </a:xfrm>
          <a:prstGeom prst="roundRect">
            <a:avLst>
              <a:gd name="adj" fmla="val 615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153912" y="2258568"/>
            <a:ext cx="85953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3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Asigna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0" y="2148840"/>
            <a:ext cx="1188720" cy="1463040"/>
          </a:xfrm>
          <a:prstGeom prst="roundRect">
            <a:avLst>
              <a:gd name="adj" fmla="val 6154"/>
            </a:avLst>
          </a:prstGeom>
          <a:solidFill>
            <a:srgbClr val="F3E8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8577072" y="2258568"/>
            <a:ext cx="85953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4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Teams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835640" y="2148840"/>
            <a:ext cx="868680" cy="146304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11000232" y="2258568"/>
            <a:ext cx="53949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5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Cerrar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loop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</a:rPr>
              <a:t>Si la notificación llega, el asignado oficial es el publicado por Teams y reflejado en Incidents.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Campos que debe llenar el usuario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Usar solo los campos necesarios. No inventar valores.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2633472" cy="611505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49224" y="138074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Campo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3227832" y="1325880"/>
            <a:ext cx="5705856" cy="611505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282696" y="1380744"/>
            <a:ext cx="5596128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Cuándo se llena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8933688" y="1325880"/>
            <a:ext cx="2633472" cy="611505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8988552" y="138074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Ejemplo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94360" y="1937385"/>
            <a:ext cx="2633472" cy="61150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649224" y="1992249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Title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27832" y="1937385"/>
            <a:ext cx="5705856" cy="61150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3282696" y="1992249"/>
            <a:ext cx="5596128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Siempre. Es el número del ticket o código del caso.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933688" y="1937385"/>
            <a:ext cx="2633472" cy="61150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8988552" y="1992249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INC1376461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548890"/>
            <a:ext cx="2633472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649224" y="260375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EntryType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227832" y="2548890"/>
            <a:ext cx="5705856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3282696" y="2603754"/>
            <a:ext cx="5596128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Siempre. Define si es normal o excepción.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8933688" y="2548890"/>
            <a:ext cx="2633472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8988552" y="260375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Normal / India / AfterHours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169920"/>
            <a:ext cx="2633472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649224" y="322478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AlreadyAssignedCode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227832" y="3169920"/>
            <a:ext cx="5705856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3282696" y="3224784"/>
            <a:ext cx="5596128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Solo si ya fue asignado manualmente a alguien.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8933688" y="3169920"/>
            <a:ext cx="2633472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8988552" y="322478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CRISTIAN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94360" y="3745230"/>
            <a:ext cx="2633472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649224" y="380009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Counted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3227832" y="3745230"/>
            <a:ext cx="5705856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/>
          <p:nvPr/>
        </p:nvSpPr>
        <p:spPr>
          <a:xfrm>
            <a:off x="3282696" y="3800094"/>
            <a:ext cx="5596128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Contador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8933688" y="3745230"/>
            <a:ext cx="2633472" cy="611505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/>
          <p:nvPr/>
        </p:nvSpPr>
        <p:spPr>
          <a:xfrm>
            <a:off x="8988552" y="3800094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Yes / No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594360" y="4356735"/>
            <a:ext cx="2633472" cy="61150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/>
          <p:nvPr/>
        </p:nvSpPr>
        <p:spPr>
          <a:xfrm>
            <a:off x="649224" y="4411599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Status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3227832" y="4356735"/>
            <a:ext cx="5705856" cy="61150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/>
          <p:nvPr/>
        </p:nvSpPr>
        <p:spPr>
          <a:xfrm>
            <a:off x="3282696" y="4411599"/>
            <a:ext cx="5596128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Al crear el registro debe iniciar en New.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933688" y="4356735"/>
            <a:ext cx="2633472" cy="61150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/>
          <p:nvPr/>
        </p:nvSpPr>
        <p:spPr>
          <a:xfrm>
            <a:off x="8988552" y="4411599"/>
            <a:ext cx="2523744" cy="50177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F172A"/>
                </a:solidFill>
              </a:rPr>
              <a:t>New</a:t>
            </a:r>
            <a:endParaRPr lang="en-US" sz="920" dirty="0"/>
          </a:p>
        </p:txBody>
      </p:sp>
      <p:sp>
        <p:nvSpPr>
          <p:cNvPr id="54" name="Text 52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normal: ticket nuevo de la cola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Aplica cuando el ticket no fue asignado manualmente a nadie.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261872"/>
            <a:ext cx="1005840" cy="292608"/>
          </a:xfrm>
          <a:prstGeom prst="roundRect">
            <a:avLst>
              <a:gd name="adj" fmla="val 375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13232" y="1321308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Normal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783080" y="1261872"/>
            <a:ext cx="1097280" cy="292608"/>
          </a:xfrm>
          <a:prstGeom prst="roundRect">
            <a:avLst>
              <a:gd name="adj" fmla="val 375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1856232" y="1321308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Excepción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63240" y="1261872"/>
            <a:ext cx="1005840" cy="292608"/>
          </a:xfrm>
          <a:prstGeom prst="roundRect">
            <a:avLst>
              <a:gd name="adj" fmla="val 375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136392" y="1321308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No cuenta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06240" y="1261872"/>
            <a:ext cx="1005840" cy="292608"/>
          </a:xfrm>
          <a:prstGeom prst="roundRect">
            <a:avLst>
              <a:gd name="adj" fmla="val 37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4279392" y="1321308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Crédito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5800" y="173736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685800" y="1737360"/>
            <a:ext cx="91440" cy="1325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914400" y="18653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Cuándo usarlo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2212848"/>
            <a:ext cx="27432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Cuando llega un ticket nuevo y debe respetar el orden actual de la cola.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26280" y="173736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4526280" y="1737360"/>
            <a:ext cx="91440" cy="1325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4754880" y="18653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Campos a llenar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54880" y="2212848"/>
            <a:ext cx="27432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Title = INCxxxx · EntryType = Normal · Status = New · Counted = Yes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8366760" y="173736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8366760" y="1737360"/>
            <a:ext cx="91440" cy="13258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8595360" y="18653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Resultado esperado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95360" y="2212848"/>
            <a:ext cx="27432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El flujo asigna al siguiente en cola y envía el mensaje por Teams.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1188720" y="3657600"/>
            <a:ext cx="3522269" cy="320040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1243584" y="3712464"/>
            <a:ext cx="3412541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FFFFF"/>
                </a:solidFill>
              </a:rPr>
              <a:t>Ejemplo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4710989" y="3657600"/>
            <a:ext cx="6261811" cy="320040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4765853" y="3712464"/>
            <a:ext cx="6152083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FFFFF"/>
                </a:solidFill>
              </a:rPr>
              <a:t>Valor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1188720" y="3977640"/>
            <a:ext cx="3522269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1243584" y="4032504"/>
            <a:ext cx="3412541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Title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4710989" y="3977640"/>
            <a:ext cx="6261811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4765853" y="4032504"/>
            <a:ext cx="6152083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INC003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1188720" y="4297680"/>
            <a:ext cx="3522269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1243584" y="4352544"/>
            <a:ext cx="3412541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EntryType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4710989" y="4297680"/>
            <a:ext cx="6261811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4765853" y="4352544"/>
            <a:ext cx="6152083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Normal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1188720" y="4617720"/>
            <a:ext cx="3522269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/>
          <p:nvPr/>
        </p:nvSpPr>
        <p:spPr>
          <a:xfrm>
            <a:off x="1243584" y="4672584"/>
            <a:ext cx="3412541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Status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4710989" y="4617720"/>
            <a:ext cx="6261811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/>
          <p:nvPr/>
        </p:nvSpPr>
        <p:spPr>
          <a:xfrm>
            <a:off x="4765853" y="4672584"/>
            <a:ext cx="6152083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New</a:t>
            </a:r>
            <a:endParaRPr lang="en-US" sz="1020" dirty="0"/>
          </a:p>
        </p:txBody>
      </p:sp>
      <p:sp>
        <p:nvSpPr>
          <p:cNvPr id="42" name="Shape 40"/>
          <p:cNvSpPr/>
          <p:nvPr/>
        </p:nvSpPr>
        <p:spPr>
          <a:xfrm>
            <a:off x="1188720" y="4937760"/>
            <a:ext cx="3522269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1243584" y="4992624"/>
            <a:ext cx="3412541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Counted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4710989" y="4937760"/>
            <a:ext cx="6261811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/>
          <p:nvPr/>
        </p:nvSpPr>
        <p:spPr>
          <a:xfrm>
            <a:off x="4765853" y="4992624"/>
            <a:ext cx="6152083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Yes</a:t>
            </a:r>
            <a:endParaRPr lang="en-US" sz="1020" dirty="0"/>
          </a:p>
        </p:txBody>
      </p:sp>
      <p:sp>
        <p:nvSpPr>
          <p:cNvPr id="46" name="Shape 44"/>
          <p:cNvSpPr/>
          <p:nvPr/>
        </p:nvSpPr>
        <p:spPr>
          <a:xfrm>
            <a:off x="1188720" y="5257800"/>
            <a:ext cx="3522269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/>
          <p:nvPr/>
        </p:nvSpPr>
        <p:spPr>
          <a:xfrm>
            <a:off x="1243584" y="5312664"/>
            <a:ext cx="3412541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AlreadyAssignedCode / Name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4710989" y="5257800"/>
            <a:ext cx="6261811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/>
          <p:nvPr/>
        </p:nvSpPr>
        <p:spPr>
          <a:xfrm>
            <a:off x="4765853" y="5312664"/>
            <a:ext cx="6152083" cy="2103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Vacío</a:t>
            </a:r>
            <a:endParaRPr lang="en-US" sz="1020" dirty="0"/>
          </a:p>
        </p:txBody>
      </p:sp>
      <p:sp>
        <p:nvSpPr>
          <p:cNvPr id="50" name="Text 48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especial: asignado por India u otro equipo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El ticket ya llegó asignado a alguien fuera del orden normal.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103120" y="2926080"/>
            <a:ext cx="13716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4754880" y="2926080"/>
            <a:ext cx="1417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7452360" y="2926080"/>
            <a:ext cx="1417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685800" y="214884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850392" y="2258568"/>
            <a:ext cx="1225296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1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Recibe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Cristian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66160" y="2148840"/>
            <a:ext cx="1280160" cy="15544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3730752" y="2258568"/>
            <a:ext cx="950976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2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Registrar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India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1280160" cy="1554480"/>
          </a:xfrm>
          <a:prstGeom prst="roundRect">
            <a:avLst>
              <a:gd name="adj" fmla="val 571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6428232" y="2258568"/>
            <a:ext cx="950976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3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Cola NO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se mueve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9006840" y="214884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F3E8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9171432" y="2258568"/>
            <a:ext cx="1271016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4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Crédito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si cuenta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F3A"/>
                </a:solidFill>
              </a:rPr>
              <a:t>Campos: EntryType = India · AlreadyAssignedCode/Name = persona que lo recibió · Counted = Yes si lo trabajó.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especial: asignación manual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Usarlo cuando internamente alguien decide asignar el ticket fuera del orden.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1109960" cy="530352"/>
          </a:xfrm>
          <a:prstGeom prst="roundRect">
            <a:avLst>
              <a:gd name="adj" fmla="val 17241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822960" y="1389888"/>
            <a:ext cx="1074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b="1" dirty="0">
                <a:solidFill>
                  <a:srgbClr val="EA580C"/>
                </a:solidFill>
              </a:rPr>
              <a:t>No registrar como Normal si se saltó </a:t>
            </a:r>
            <a:r>
              <a:rPr lang="en-US" sz="1120" b="1" dirty="0" err="1">
                <a:solidFill>
                  <a:srgbClr val="EA580C"/>
                </a:solidFill>
              </a:rPr>
              <a:t>el</a:t>
            </a:r>
            <a:r>
              <a:rPr lang="en-US" sz="1120" b="1" dirty="0">
                <a:solidFill>
                  <a:srgbClr val="EA580C"/>
                </a:solidFill>
              </a:rPr>
              <a:t> </a:t>
            </a:r>
            <a:r>
              <a:rPr lang="en-US" sz="1120" b="1" dirty="0" err="1">
                <a:solidFill>
                  <a:srgbClr val="EA580C"/>
                </a:solidFill>
              </a:rPr>
              <a:t>orden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777240" y="2148840"/>
            <a:ext cx="3621938" cy="483326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832104" y="2203704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Campo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99178" y="2148840"/>
            <a:ext cx="7030822" cy="483326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4454042" y="2203704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Valor recomendado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2632166"/>
            <a:ext cx="3621938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832104" y="2687030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Title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99178" y="2632166"/>
            <a:ext cx="7030822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454042" y="2687030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INC manual o número real del ticket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77240" y="3115491"/>
            <a:ext cx="3621938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832104" y="3170355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EntryType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99178" y="3115491"/>
            <a:ext cx="7030822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4454042" y="3170355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 err="1">
                <a:solidFill>
                  <a:srgbClr val="0F172A"/>
                </a:solidFill>
              </a:rPr>
              <a:t>Seleccionar</a:t>
            </a:r>
            <a:r>
              <a:rPr lang="en-US" sz="1050" dirty="0">
                <a:solidFill>
                  <a:srgbClr val="0F172A"/>
                </a:solidFill>
              </a:rPr>
              <a:t> de </a:t>
            </a:r>
            <a:r>
              <a:rPr lang="en-US" sz="1050" dirty="0" err="1">
                <a:solidFill>
                  <a:srgbClr val="0F172A"/>
                </a:solidFill>
              </a:rPr>
              <a:t>acuerdo</a:t>
            </a:r>
            <a:r>
              <a:rPr lang="en-US" sz="1050" dirty="0">
                <a:solidFill>
                  <a:srgbClr val="0F172A"/>
                </a:solidFill>
              </a:rPr>
              <a:t> con la </a:t>
            </a:r>
            <a:r>
              <a:rPr lang="en-US" sz="1050" dirty="0" err="1">
                <a:solidFill>
                  <a:srgbClr val="0F172A"/>
                </a:solidFill>
              </a:rPr>
              <a:t>asignación</a:t>
            </a:r>
            <a:r>
              <a:rPr lang="en-US" sz="1050" dirty="0">
                <a:solidFill>
                  <a:srgbClr val="0F172A"/>
                </a:solidFill>
              </a:rPr>
              <a:t>, </a:t>
            </a:r>
            <a:r>
              <a:rPr lang="en-US" sz="1050" dirty="0" err="1">
                <a:solidFill>
                  <a:srgbClr val="0F172A"/>
                </a:solidFill>
              </a:rPr>
              <a:t>puede</a:t>
            </a:r>
            <a:r>
              <a:rPr lang="en-US" sz="1050" dirty="0">
                <a:solidFill>
                  <a:srgbClr val="0F172A"/>
                </a:solidFill>
              </a:rPr>
              <a:t> ser India, Weekend, </a:t>
            </a:r>
            <a:r>
              <a:rPr lang="en-US" sz="1050" dirty="0" err="1">
                <a:solidFill>
                  <a:srgbClr val="0F172A"/>
                </a:solidFill>
              </a:rPr>
              <a:t>AfterHours</a:t>
            </a:r>
            <a:r>
              <a:rPr lang="en-US" sz="1050" dirty="0">
                <a:solidFill>
                  <a:srgbClr val="0F172A"/>
                </a:solidFill>
              </a:rPr>
              <a:t>, Email, Manual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3598817"/>
            <a:ext cx="3621938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832104" y="3653681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AlreadyAssignedCode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99178" y="3598817"/>
            <a:ext cx="7030822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454042" y="3653681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Código de quien recibió el ticket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77240" y="4036858"/>
            <a:ext cx="3621938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832104" y="4091722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Status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399178" y="4036858"/>
            <a:ext cx="7030822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4454042" y="4091722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New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960" y="58064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</a:rPr>
              <a:t>Ejemplo: la cola iba en Daniel, pero el ticket se asignó a Cristian. Se registra </a:t>
            </a:r>
            <a:r>
              <a:rPr lang="en-US" sz="1150" dirty="0" err="1">
                <a:solidFill>
                  <a:srgbClr val="334155"/>
                </a:solidFill>
              </a:rPr>
              <a:t>como</a:t>
            </a:r>
            <a:r>
              <a:rPr lang="en-US" sz="1150" dirty="0">
                <a:solidFill>
                  <a:srgbClr val="334155"/>
                </a:solidFill>
              </a:rPr>
              <a:t> Manual y la cola sigue en Daniel.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975E3-AEFB-8935-95CD-99CCC3A32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8595972-62EC-A047-4B48-CE58DE8CAC32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F42943C-82C6-A60E-E127-22507D2154BD}"/>
              </a:ext>
            </a:extLst>
          </p:cNvPr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6140CC7-AD64-212C-1594-D875DB62B4C6}"/>
              </a:ext>
            </a:extLst>
          </p:cNvPr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 Crédito</a:t>
            </a:r>
            <a:endParaRPr lang="en-US" sz="27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3DDF701-4BC2-F562-D810-33EE00D049A2}"/>
              </a:ext>
            </a:extLst>
          </p:cNvPr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Luego de registrar </a:t>
            </a:r>
            <a:r>
              <a:rPr lang="en-US" sz="1050" dirty="0" err="1">
                <a:solidFill>
                  <a:srgbClr val="64748B"/>
                </a:solidFill>
              </a:rPr>
              <a:t>el</a:t>
            </a:r>
            <a:r>
              <a:rPr lang="en-US" sz="1050" dirty="0">
                <a:solidFill>
                  <a:srgbClr val="64748B"/>
                </a:solidFill>
              </a:rPr>
              <a:t> Ticket, se </a:t>
            </a:r>
            <a:r>
              <a:rPr lang="en-US" sz="1050" dirty="0" err="1">
                <a:solidFill>
                  <a:srgbClr val="64748B"/>
                </a:solidFill>
              </a:rPr>
              <a:t>debe</a:t>
            </a:r>
            <a:r>
              <a:rPr lang="en-US" sz="1050" dirty="0">
                <a:solidFill>
                  <a:srgbClr val="64748B"/>
                </a:solidFill>
              </a:rPr>
              <a:t> de registrar </a:t>
            </a:r>
            <a:r>
              <a:rPr lang="en-US" sz="1050" dirty="0" err="1">
                <a:solidFill>
                  <a:srgbClr val="64748B"/>
                </a:solidFill>
              </a:rPr>
              <a:t>el</a:t>
            </a:r>
            <a:r>
              <a:rPr lang="en-US" sz="1050" dirty="0">
                <a:solidFill>
                  <a:srgbClr val="64748B"/>
                </a:solidFill>
              </a:rPr>
              <a:t> </a:t>
            </a:r>
            <a:r>
              <a:rPr lang="en-US" sz="1050" dirty="0" err="1">
                <a:solidFill>
                  <a:srgbClr val="64748B"/>
                </a:solidFill>
              </a:rPr>
              <a:t>crédito</a:t>
            </a:r>
            <a:endParaRPr lang="en-US" sz="10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CFC63AF-F9A3-95A3-EF2F-936EF7B41C62}"/>
              </a:ext>
            </a:extLst>
          </p:cNvPr>
          <p:cNvSpPr/>
          <p:nvPr/>
        </p:nvSpPr>
        <p:spPr>
          <a:xfrm>
            <a:off x="722376" y="1611630"/>
            <a:ext cx="3621938" cy="483326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9F49F1A-05E8-6E6F-1665-521827B02785}"/>
              </a:ext>
            </a:extLst>
          </p:cNvPr>
          <p:cNvSpPr/>
          <p:nvPr/>
        </p:nvSpPr>
        <p:spPr>
          <a:xfrm>
            <a:off x="777240" y="1666494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Campo</a:t>
            </a:r>
            <a:endParaRPr lang="en-US" sz="10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17EF47F-1D49-EE7B-3A9E-AC2E951F0378}"/>
              </a:ext>
            </a:extLst>
          </p:cNvPr>
          <p:cNvSpPr/>
          <p:nvPr/>
        </p:nvSpPr>
        <p:spPr>
          <a:xfrm>
            <a:off x="4344314" y="1611630"/>
            <a:ext cx="7030822" cy="483326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0A5D946-BCFC-D416-20B7-B574BBD479B4}"/>
              </a:ext>
            </a:extLst>
          </p:cNvPr>
          <p:cNvSpPr/>
          <p:nvPr/>
        </p:nvSpPr>
        <p:spPr>
          <a:xfrm>
            <a:off x="4399178" y="1666494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Valor recomendado</a:t>
            </a:r>
            <a:endParaRPr lang="en-US" sz="10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5B1CFB3-0164-9DF7-E8BC-FC27E19BBE53}"/>
              </a:ext>
            </a:extLst>
          </p:cNvPr>
          <p:cNvSpPr/>
          <p:nvPr/>
        </p:nvSpPr>
        <p:spPr>
          <a:xfrm>
            <a:off x="722376" y="2094956"/>
            <a:ext cx="3621938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F78EDBF-86DD-E241-6768-2AC65244DD6C}"/>
              </a:ext>
            </a:extLst>
          </p:cNvPr>
          <p:cNvSpPr/>
          <p:nvPr/>
        </p:nvSpPr>
        <p:spPr>
          <a:xfrm>
            <a:off x="777240" y="2149820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Title</a:t>
            </a:r>
            <a:endParaRPr lang="en-US" sz="10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AFB7699-B0BB-00EF-633B-411B65313096}"/>
              </a:ext>
            </a:extLst>
          </p:cNvPr>
          <p:cNvSpPr/>
          <p:nvPr/>
        </p:nvSpPr>
        <p:spPr>
          <a:xfrm>
            <a:off x="4344314" y="2094956"/>
            <a:ext cx="7030822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FD9DD9E-CECC-1039-5009-4FAC3CC53731}"/>
              </a:ext>
            </a:extLst>
          </p:cNvPr>
          <p:cNvSpPr/>
          <p:nvPr/>
        </p:nvSpPr>
        <p:spPr>
          <a:xfrm>
            <a:off x="4399178" y="2149820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Nombre de la persona </a:t>
            </a:r>
            <a:r>
              <a:rPr lang="en-US" sz="1050" dirty="0" err="1">
                <a:solidFill>
                  <a:srgbClr val="0F172A"/>
                </a:solidFill>
              </a:rPr>
              <a:t>que</a:t>
            </a:r>
            <a:r>
              <a:rPr lang="en-US" sz="1050" dirty="0">
                <a:solidFill>
                  <a:srgbClr val="0F172A"/>
                </a:solidFill>
              </a:rPr>
              <a:t> se le </a:t>
            </a:r>
            <a:r>
              <a:rPr lang="en-US" sz="1050" dirty="0" err="1">
                <a:solidFill>
                  <a:srgbClr val="0F172A"/>
                </a:solidFill>
              </a:rPr>
              <a:t>entrego</a:t>
            </a:r>
            <a:r>
              <a:rPr lang="en-US" sz="1050" dirty="0">
                <a:solidFill>
                  <a:srgbClr val="0F172A"/>
                </a:solidFill>
              </a:rPr>
              <a:t> </a:t>
            </a:r>
            <a:r>
              <a:rPr lang="en-US" sz="1050" dirty="0" err="1">
                <a:solidFill>
                  <a:srgbClr val="0F172A"/>
                </a:solidFill>
              </a:rPr>
              <a:t>el</a:t>
            </a:r>
            <a:r>
              <a:rPr lang="en-US" sz="1050" dirty="0">
                <a:solidFill>
                  <a:srgbClr val="0F172A"/>
                </a:solidFill>
              </a:rPr>
              <a:t> ticket – Código ticket</a:t>
            </a:r>
            <a:endParaRPr lang="en-US" sz="10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277C06A-BA3C-892F-0A7F-FED36C1D938C}"/>
              </a:ext>
            </a:extLst>
          </p:cNvPr>
          <p:cNvSpPr/>
          <p:nvPr/>
        </p:nvSpPr>
        <p:spPr>
          <a:xfrm>
            <a:off x="722376" y="2578281"/>
            <a:ext cx="3621938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AE33D23-BEB4-E0F8-8A00-174D44A9CD09}"/>
              </a:ext>
            </a:extLst>
          </p:cNvPr>
          <p:cNvSpPr/>
          <p:nvPr/>
        </p:nvSpPr>
        <p:spPr>
          <a:xfrm>
            <a:off x="777240" y="2633145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 err="1">
                <a:solidFill>
                  <a:srgbClr val="0F172A"/>
                </a:solidFill>
              </a:rPr>
              <a:t>MemberCode</a:t>
            </a:r>
            <a:endParaRPr lang="en-US" sz="10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C04FF53-2849-38B9-A9B7-E4E9A8EAA683}"/>
              </a:ext>
            </a:extLst>
          </p:cNvPr>
          <p:cNvSpPr/>
          <p:nvPr/>
        </p:nvSpPr>
        <p:spPr>
          <a:xfrm>
            <a:off x="4344314" y="2578281"/>
            <a:ext cx="7030822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53E9E94-7DF7-4083-CD14-77E8DC59FA6A}"/>
              </a:ext>
            </a:extLst>
          </p:cNvPr>
          <p:cNvSpPr/>
          <p:nvPr/>
        </p:nvSpPr>
        <p:spPr>
          <a:xfrm>
            <a:off x="4399178" y="2633145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050" dirty="0">
                <a:solidFill>
                  <a:srgbClr val="0F172A"/>
                </a:solidFill>
              </a:rPr>
              <a:t>Código de </a:t>
            </a:r>
            <a:r>
              <a:rPr lang="en-US" sz="1050" dirty="0" err="1">
                <a:solidFill>
                  <a:srgbClr val="0F172A"/>
                </a:solidFill>
              </a:rPr>
              <a:t>quien</a:t>
            </a:r>
            <a:r>
              <a:rPr lang="en-US" sz="1050" dirty="0">
                <a:solidFill>
                  <a:srgbClr val="0F172A"/>
                </a:solidFill>
              </a:rPr>
              <a:t> </a:t>
            </a:r>
            <a:r>
              <a:rPr lang="en-US" sz="1050" dirty="0" err="1">
                <a:solidFill>
                  <a:srgbClr val="0F172A"/>
                </a:solidFill>
              </a:rPr>
              <a:t>recibió</a:t>
            </a:r>
            <a:r>
              <a:rPr lang="en-US" sz="1050" dirty="0">
                <a:solidFill>
                  <a:srgbClr val="0F172A"/>
                </a:solidFill>
              </a:rPr>
              <a:t> </a:t>
            </a:r>
            <a:r>
              <a:rPr lang="en-US" sz="1050" dirty="0" err="1">
                <a:solidFill>
                  <a:srgbClr val="0F172A"/>
                </a:solidFill>
              </a:rPr>
              <a:t>el</a:t>
            </a:r>
            <a:r>
              <a:rPr lang="en-US" sz="1050" dirty="0">
                <a:solidFill>
                  <a:srgbClr val="0F172A"/>
                </a:solidFill>
              </a:rPr>
              <a:t> ticket</a:t>
            </a:r>
            <a:endParaRPr lang="en-US" sz="10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DD60D97-B628-BE4E-794E-796DA8778E11}"/>
              </a:ext>
            </a:extLst>
          </p:cNvPr>
          <p:cNvSpPr/>
          <p:nvPr/>
        </p:nvSpPr>
        <p:spPr>
          <a:xfrm>
            <a:off x="722376" y="3061607"/>
            <a:ext cx="3621938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8637DA1-C72A-613B-97F0-EF9FABEADD23}"/>
              </a:ext>
            </a:extLst>
          </p:cNvPr>
          <p:cNvSpPr/>
          <p:nvPr/>
        </p:nvSpPr>
        <p:spPr>
          <a:xfrm>
            <a:off x="777240" y="3116471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 err="1">
                <a:solidFill>
                  <a:srgbClr val="0F172A"/>
                </a:solidFill>
              </a:rPr>
              <a:t>CreditType</a:t>
            </a:r>
            <a:endParaRPr lang="en-US" sz="10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5420374-A8B0-2064-1B9E-67C66EFF5C24}"/>
              </a:ext>
            </a:extLst>
          </p:cNvPr>
          <p:cNvSpPr/>
          <p:nvPr/>
        </p:nvSpPr>
        <p:spPr>
          <a:xfrm>
            <a:off x="4344314" y="3061607"/>
            <a:ext cx="7030822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13DCDCC-AB88-0BC2-9142-A34E0CAAE800}"/>
              </a:ext>
            </a:extLst>
          </p:cNvPr>
          <p:cNvSpPr/>
          <p:nvPr/>
        </p:nvSpPr>
        <p:spPr>
          <a:xfrm>
            <a:off x="4399178" y="3116471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050" dirty="0">
                <a:solidFill>
                  <a:srgbClr val="0F172A"/>
                </a:solidFill>
              </a:rPr>
              <a:t>Tipo de ticket </a:t>
            </a:r>
            <a:r>
              <a:rPr lang="en-US" sz="1050" dirty="0" err="1">
                <a:solidFill>
                  <a:srgbClr val="0F172A"/>
                </a:solidFill>
              </a:rPr>
              <a:t>que</a:t>
            </a:r>
            <a:r>
              <a:rPr lang="en-US" sz="1050" dirty="0">
                <a:solidFill>
                  <a:srgbClr val="0F172A"/>
                </a:solidFill>
              </a:rPr>
              <a:t> </a:t>
            </a:r>
            <a:r>
              <a:rPr lang="en-US" sz="1050" dirty="0" err="1">
                <a:solidFill>
                  <a:srgbClr val="0F172A"/>
                </a:solidFill>
              </a:rPr>
              <a:t>fue</a:t>
            </a:r>
            <a:r>
              <a:rPr lang="en-US" sz="1050" dirty="0">
                <a:solidFill>
                  <a:srgbClr val="0F172A"/>
                </a:solidFill>
              </a:rPr>
              <a:t> </a:t>
            </a:r>
            <a:r>
              <a:rPr lang="en-US" sz="1050" dirty="0" err="1">
                <a:solidFill>
                  <a:srgbClr val="0F172A"/>
                </a:solidFill>
              </a:rPr>
              <a:t>asignado</a:t>
            </a:r>
            <a:r>
              <a:rPr lang="en-US" sz="1050" dirty="0">
                <a:solidFill>
                  <a:srgbClr val="0F172A"/>
                </a:solidFill>
              </a:rPr>
              <a:t>, </a:t>
            </a:r>
            <a:r>
              <a:rPr lang="en-US" sz="1050" dirty="0" err="1">
                <a:solidFill>
                  <a:srgbClr val="0F172A"/>
                </a:solidFill>
              </a:rPr>
              <a:t>puede</a:t>
            </a:r>
            <a:r>
              <a:rPr lang="en-US" sz="1050" dirty="0">
                <a:solidFill>
                  <a:srgbClr val="0F172A"/>
                </a:solidFill>
              </a:rPr>
              <a:t> ser India, Weekend, </a:t>
            </a:r>
            <a:r>
              <a:rPr lang="en-US" sz="1050" dirty="0" err="1">
                <a:solidFill>
                  <a:srgbClr val="0F172A"/>
                </a:solidFill>
              </a:rPr>
              <a:t>AfterHours</a:t>
            </a:r>
            <a:r>
              <a:rPr lang="en-US" sz="1050" dirty="0">
                <a:solidFill>
                  <a:srgbClr val="0F172A"/>
                </a:solidFill>
              </a:rPr>
              <a:t>, Email, Manual</a:t>
            </a:r>
            <a:endParaRPr lang="en-US" sz="105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3B9214A0-164A-A8AA-AE22-BA421CF8E017}"/>
              </a:ext>
            </a:extLst>
          </p:cNvPr>
          <p:cNvSpPr/>
          <p:nvPr/>
        </p:nvSpPr>
        <p:spPr>
          <a:xfrm>
            <a:off x="722376" y="3499648"/>
            <a:ext cx="3621938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7B65BFA-026B-CBAC-5169-8D1E6232F93A}"/>
              </a:ext>
            </a:extLst>
          </p:cNvPr>
          <p:cNvSpPr/>
          <p:nvPr/>
        </p:nvSpPr>
        <p:spPr>
          <a:xfrm>
            <a:off x="777240" y="3554512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 err="1">
                <a:solidFill>
                  <a:srgbClr val="0F172A"/>
                </a:solidFill>
              </a:rPr>
              <a:t>ReferenceIncident</a:t>
            </a:r>
            <a:r>
              <a:rPr lang="en-US" sz="1050" dirty="0">
                <a:solidFill>
                  <a:srgbClr val="0F172A"/>
                </a:solidFill>
              </a:rPr>
              <a:t>	</a:t>
            </a:r>
            <a:endParaRPr lang="en-US" sz="105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B0F2BE81-B7C7-64CF-3969-2F81F1E9F547}"/>
              </a:ext>
            </a:extLst>
          </p:cNvPr>
          <p:cNvSpPr/>
          <p:nvPr/>
        </p:nvSpPr>
        <p:spPr>
          <a:xfrm>
            <a:off x="4344314" y="3499648"/>
            <a:ext cx="7030822" cy="483326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5BEC93E-FAF0-15E4-E726-C30F664252BC}"/>
              </a:ext>
            </a:extLst>
          </p:cNvPr>
          <p:cNvSpPr/>
          <p:nvPr/>
        </p:nvSpPr>
        <p:spPr>
          <a:xfrm>
            <a:off x="4399178" y="3554512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Código del ticket</a:t>
            </a:r>
            <a:endParaRPr lang="en-US" sz="105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8A87EF0-78E9-5A10-8966-DD8E6F237F4E}"/>
              </a:ext>
            </a:extLst>
          </p:cNvPr>
          <p:cNvSpPr/>
          <p:nvPr/>
        </p:nvSpPr>
        <p:spPr>
          <a:xfrm>
            <a:off x="822960" y="58064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</a:rPr>
              <a:t>Ejemplo: Cristian </a:t>
            </a:r>
            <a:r>
              <a:rPr lang="en-US" sz="1150" dirty="0" err="1">
                <a:solidFill>
                  <a:srgbClr val="334155"/>
                </a:solidFill>
              </a:rPr>
              <a:t>debe</a:t>
            </a:r>
            <a:r>
              <a:rPr lang="en-US" sz="1150" dirty="0">
                <a:solidFill>
                  <a:srgbClr val="334155"/>
                </a:solidFill>
              </a:rPr>
              <a:t> de registrar </a:t>
            </a:r>
            <a:r>
              <a:rPr lang="en-US" sz="1150" dirty="0" err="1">
                <a:solidFill>
                  <a:srgbClr val="334155"/>
                </a:solidFill>
              </a:rPr>
              <a:t>su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crédito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por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tener</a:t>
            </a:r>
            <a:r>
              <a:rPr lang="en-US" sz="1150" dirty="0">
                <a:solidFill>
                  <a:srgbClr val="334155"/>
                </a:solidFill>
              </a:rPr>
              <a:t> un ticket </a:t>
            </a:r>
            <a:r>
              <a:rPr lang="en-US" sz="1150" dirty="0" err="1">
                <a:solidFill>
                  <a:srgbClr val="334155"/>
                </a:solidFill>
              </a:rPr>
              <a:t>que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saltó</a:t>
            </a:r>
            <a:r>
              <a:rPr lang="en-US" sz="1150" dirty="0">
                <a:solidFill>
                  <a:srgbClr val="334155"/>
                </a:solidFill>
              </a:rPr>
              <a:t> la cola y </a:t>
            </a:r>
            <a:r>
              <a:rPr lang="en-US" sz="1150" dirty="0" err="1">
                <a:solidFill>
                  <a:srgbClr val="334155"/>
                </a:solidFill>
              </a:rPr>
              <a:t>que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fue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asignado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manualmente</a:t>
            </a:r>
            <a:r>
              <a:rPr lang="en-US" sz="1150" dirty="0">
                <a:solidFill>
                  <a:srgbClr val="334155"/>
                </a:solidFill>
              </a:rPr>
              <a:t> (</a:t>
            </a:r>
            <a:r>
              <a:rPr lang="en-US" sz="1150" dirty="0" err="1">
                <a:solidFill>
                  <a:srgbClr val="334155"/>
                </a:solidFill>
              </a:rPr>
              <a:t>casos</a:t>
            </a:r>
            <a:r>
              <a:rPr lang="en-US" sz="1150" dirty="0">
                <a:solidFill>
                  <a:srgbClr val="334155"/>
                </a:solidFill>
              </a:rPr>
              <a:t> </a:t>
            </a:r>
            <a:r>
              <a:rPr lang="en-US" sz="1150" dirty="0" err="1">
                <a:solidFill>
                  <a:srgbClr val="334155"/>
                </a:solidFill>
              </a:rPr>
              <a:t>especiales</a:t>
            </a:r>
            <a:r>
              <a:rPr lang="en-US" sz="1150" dirty="0">
                <a:solidFill>
                  <a:srgbClr val="334155"/>
                </a:solidFill>
              </a:rPr>
              <a:t>).</a:t>
            </a:r>
            <a:endParaRPr lang="en-US" sz="115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FBA0E638-D394-066F-EED3-1403BF408BC8}"/>
              </a:ext>
            </a:extLst>
          </p:cNvPr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7</a:t>
            </a:r>
            <a:endParaRPr lang="en-US" sz="75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F92DA78E-B493-274C-C396-3B1FC8A439A8}"/>
              </a:ext>
            </a:extLst>
          </p:cNvPr>
          <p:cNvSpPr/>
          <p:nvPr/>
        </p:nvSpPr>
        <p:spPr>
          <a:xfrm>
            <a:off x="722376" y="3915700"/>
            <a:ext cx="3621938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9D71030F-A8A3-A9F4-402D-3830122B5657}"/>
              </a:ext>
            </a:extLst>
          </p:cNvPr>
          <p:cNvSpPr/>
          <p:nvPr/>
        </p:nvSpPr>
        <p:spPr>
          <a:xfrm>
            <a:off x="777240" y="3970564"/>
            <a:ext cx="3512210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Status	</a:t>
            </a:r>
            <a:endParaRPr lang="en-US" sz="1050" dirty="0"/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73B55BE8-AB3A-36B2-5E74-C7DCDE9E4E5F}"/>
              </a:ext>
            </a:extLst>
          </p:cNvPr>
          <p:cNvSpPr/>
          <p:nvPr/>
        </p:nvSpPr>
        <p:spPr>
          <a:xfrm>
            <a:off x="4344314" y="3915700"/>
            <a:ext cx="7030822" cy="48332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08FD1E1B-5CCF-5A33-8CB8-51E73A034EFB}"/>
              </a:ext>
            </a:extLst>
          </p:cNvPr>
          <p:cNvSpPr/>
          <p:nvPr/>
        </p:nvSpPr>
        <p:spPr>
          <a:xfrm>
            <a:off x="4399178" y="3970564"/>
            <a:ext cx="6921094" cy="37359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050" dirty="0">
                <a:solidFill>
                  <a:srgbClr val="0F172A"/>
                </a:solidFill>
              </a:rPr>
              <a:t>Available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586112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especial: after-hours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Aplica para cobertura fuera del horario normal, por ejemplo 6:00 p. m. a 7:00 p. m.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32004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685800" y="1600200"/>
            <a:ext cx="9144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914400" y="17282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Cuándo usarlo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2075688"/>
            <a:ext cx="28346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Cuando una persona atiende un ticket fuera del turno ordinario del equipo.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480560" y="1600200"/>
            <a:ext cx="32004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480560" y="1600200"/>
            <a:ext cx="91440" cy="12801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709160" y="17282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Qué registrar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709160" y="2075688"/>
            <a:ext cx="28346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EntryType = AfterHours · AlreadyAssigned = persona que atendió · Counted = Yes.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75320" y="1600200"/>
            <a:ext cx="32004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8275320" y="1600200"/>
            <a:ext cx="91440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8503920" y="17282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Efecto en cola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503920" y="2075688"/>
            <a:ext cx="28346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No mueve la cola normal. Genera crédito si el ticket sí fue trabajado.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280160" y="3657600"/>
            <a:ext cx="3472891" cy="304800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1335024" y="3712464"/>
            <a:ext cx="3363163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FFFFF"/>
                </a:solidFill>
              </a:rPr>
              <a:t>Ejemplo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4753051" y="3657600"/>
            <a:ext cx="6174029" cy="304800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07915" y="3712464"/>
            <a:ext cx="6064301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FFFFF"/>
                </a:solidFill>
              </a:rPr>
              <a:t>Valor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1280160" y="3962400"/>
            <a:ext cx="3472891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1335024" y="4017264"/>
            <a:ext cx="3363163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Title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4753051" y="3962400"/>
            <a:ext cx="6174029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807915" y="4017264"/>
            <a:ext cx="6064301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INC_AFTER_001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1280160" y="4267200"/>
            <a:ext cx="3472891" cy="304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1335024" y="4322064"/>
            <a:ext cx="3363163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EntryType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4753051" y="4267200"/>
            <a:ext cx="6174029" cy="304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4807915" y="4322064"/>
            <a:ext cx="6064301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AfterHours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1280160" y="4572000"/>
            <a:ext cx="3472891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1335024" y="4626864"/>
            <a:ext cx="3363163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AlreadyAssignedCode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4753051" y="4572000"/>
            <a:ext cx="6174029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4807915" y="4626864"/>
            <a:ext cx="6064301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DAVID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1280160" y="4876800"/>
            <a:ext cx="3472891" cy="304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1335024" y="4931664"/>
            <a:ext cx="3363163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AlreadyAssignedName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4753051" y="4876800"/>
            <a:ext cx="6174029" cy="304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4807915" y="4931664"/>
            <a:ext cx="6064301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David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1280160" y="5181600"/>
            <a:ext cx="3472891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/>
          <p:nvPr/>
        </p:nvSpPr>
        <p:spPr>
          <a:xfrm>
            <a:off x="1335024" y="5236464"/>
            <a:ext cx="3363163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Counted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4753051" y="5181600"/>
            <a:ext cx="6174029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/>
          <p:nvPr/>
        </p:nvSpPr>
        <p:spPr>
          <a:xfrm>
            <a:off x="4807915" y="5236464"/>
            <a:ext cx="6064301" cy="195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Yes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8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especial: fin de semana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Aplica cuando el on-call recibe o trabaja un ticket sábado/domingo.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26080" y="2834640"/>
            <a:ext cx="128016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5669280" y="2834640"/>
            <a:ext cx="128016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8412480" y="2834640"/>
            <a:ext cx="128016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868680" y="21488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3E8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1033272" y="2258568"/>
            <a:ext cx="1591056" cy="1197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On-call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atiende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43400" y="2148840"/>
            <a:ext cx="1325880" cy="14173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07992" y="2258568"/>
            <a:ext cx="996696" cy="1197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Registrar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Weekend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86600" y="2148840"/>
            <a:ext cx="1325880" cy="1417320"/>
          </a:xfrm>
          <a:prstGeom prst="roundRect">
            <a:avLst>
              <a:gd name="adj" fmla="val 551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7251192" y="2258568"/>
            <a:ext cx="996696" cy="1197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No mueve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cola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829800" y="21488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9994392" y="2258568"/>
            <a:ext cx="1088136" cy="1197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Crédito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posterior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F3A"/>
                </a:solidFill>
              </a:rPr>
              <a:t>Campos: EntryType = Weekend · AlreadyAssigned = on-call · Counted = Yes si trabajó el caso.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9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rápida de decisión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Usar esta tabla antes de crear el registro.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429104" cy="738051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374904" y="1289304"/>
            <a:ext cx="2319376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b="1" dirty="0">
                <a:solidFill>
                  <a:srgbClr val="FFFFFF"/>
                </a:solidFill>
              </a:rPr>
              <a:t>Situación</a:t>
            </a:r>
            <a:endParaRPr lang="en-US" sz="815" dirty="0"/>
          </a:p>
        </p:txBody>
      </p:sp>
      <p:sp>
        <p:nvSpPr>
          <p:cNvPr id="8" name="Shape 6"/>
          <p:cNvSpPr/>
          <p:nvPr/>
        </p:nvSpPr>
        <p:spPr>
          <a:xfrm>
            <a:off x="2749144" y="1234440"/>
            <a:ext cx="1850746" cy="738051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2804008" y="1289304"/>
            <a:ext cx="1741018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b="1" dirty="0">
                <a:solidFill>
                  <a:srgbClr val="FFFFFF"/>
                </a:solidFill>
              </a:rPr>
              <a:t>EntryType</a:t>
            </a:r>
            <a:endParaRPr lang="en-US" sz="815" dirty="0"/>
          </a:p>
        </p:txBody>
      </p:sp>
      <p:sp>
        <p:nvSpPr>
          <p:cNvPr id="10" name="Shape 8"/>
          <p:cNvSpPr/>
          <p:nvPr/>
        </p:nvSpPr>
        <p:spPr>
          <a:xfrm>
            <a:off x="4599889" y="1234440"/>
            <a:ext cx="2544775" cy="738051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4654753" y="1289304"/>
            <a:ext cx="2435047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b="1" dirty="0">
                <a:solidFill>
                  <a:srgbClr val="FFFFFF"/>
                </a:solidFill>
              </a:rPr>
              <a:t>AlreadyAssigned</a:t>
            </a:r>
            <a:endParaRPr lang="en-US" sz="815" dirty="0"/>
          </a:p>
        </p:txBody>
      </p:sp>
      <p:sp>
        <p:nvSpPr>
          <p:cNvPr id="12" name="Shape 10"/>
          <p:cNvSpPr/>
          <p:nvPr/>
        </p:nvSpPr>
        <p:spPr>
          <a:xfrm>
            <a:off x="7144664" y="1234440"/>
            <a:ext cx="1619402" cy="738051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7199528" y="1289304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b="1" dirty="0">
                <a:solidFill>
                  <a:srgbClr val="FFFFFF"/>
                </a:solidFill>
              </a:rPr>
              <a:t>EmailCode</a:t>
            </a:r>
            <a:endParaRPr lang="en-US" sz="815" dirty="0"/>
          </a:p>
        </p:txBody>
      </p:sp>
      <p:sp>
        <p:nvSpPr>
          <p:cNvPr id="14" name="Shape 12"/>
          <p:cNvSpPr/>
          <p:nvPr/>
        </p:nvSpPr>
        <p:spPr>
          <a:xfrm>
            <a:off x="8764067" y="1234440"/>
            <a:ext cx="1503731" cy="738051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8818931" y="1289304"/>
            <a:ext cx="1394003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b="1" dirty="0">
                <a:solidFill>
                  <a:srgbClr val="FFFFFF"/>
                </a:solidFill>
              </a:rPr>
              <a:t>Counted</a:t>
            </a:r>
            <a:endParaRPr lang="en-US" sz="815" dirty="0"/>
          </a:p>
        </p:txBody>
      </p:sp>
      <p:sp>
        <p:nvSpPr>
          <p:cNvPr id="16" name="Shape 14"/>
          <p:cNvSpPr/>
          <p:nvPr/>
        </p:nvSpPr>
        <p:spPr>
          <a:xfrm>
            <a:off x="10267798" y="1234440"/>
            <a:ext cx="1619402" cy="738051"/>
          </a:xfrm>
          <a:prstGeom prst="rect">
            <a:avLst/>
          </a:prstGeom>
          <a:solidFill>
            <a:srgbClr val="0B1F3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10322662" y="1289304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b="1" dirty="0">
                <a:solidFill>
                  <a:srgbClr val="FFFFFF"/>
                </a:solidFill>
              </a:rPr>
              <a:t>Impacto esperado</a:t>
            </a:r>
            <a:endParaRPr lang="en-US" sz="815" dirty="0"/>
          </a:p>
        </p:txBody>
      </p:sp>
      <p:sp>
        <p:nvSpPr>
          <p:cNvPr id="18" name="Shape 16"/>
          <p:cNvSpPr/>
          <p:nvPr/>
        </p:nvSpPr>
        <p:spPr>
          <a:xfrm>
            <a:off x="320040" y="1972491"/>
            <a:ext cx="2429104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374904" y="2027355"/>
            <a:ext cx="2319376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Ticket normal de cola</a:t>
            </a:r>
            <a:endParaRPr lang="en-US" sz="815" dirty="0"/>
          </a:p>
        </p:txBody>
      </p:sp>
      <p:sp>
        <p:nvSpPr>
          <p:cNvPr id="20" name="Shape 18"/>
          <p:cNvSpPr/>
          <p:nvPr/>
        </p:nvSpPr>
        <p:spPr>
          <a:xfrm>
            <a:off x="2749144" y="1972491"/>
            <a:ext cx="1850746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2804008" y="2027355"/>
            <a:ext cx="1741018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Normal</a:t>
            </a:r>
            <a:endParaRPr lang="en-US" sz="815" dirty="0"/>
          </a:p>
        </p:txBody>
      </p:sp>
      <p:sp>
        <p:nvSpPr>
          <p:cNvPr id="22" name="Shape 20"/>
          <p:cNvSpPr/>
          <p:nvPr/>
        </p:nvSpPr>
        <p:spPr>
          <a:xfrm>
            <a:off x="4599889" y="1972491"/>
            <a:ext cx="2544775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654753" y="2027355"/>
            <a:ext cx="2435047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Vacío</a:t>
            </a:r>
            <a:endParaRPr lang="en-US" sz="815" dirty="0"/>
          </a:p>
        </p:txBody>
      </p:sp>
      <p:sp>
        <p:nvSpPr>
          <p:cNvPr id="24" name="Shape 22"/>
          <p:cNvSpPr/>
          <p:nvPr/>
        </p:nvSpPr>
        <p:spPr>
          <a:xfrm>
            <a:off x="7144664" y="1972491"/>
            <a:ext cx="1619402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7199528" y="2027355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Vacío</a:t>
            </a:r>
            <a:endParaRPr lang="en-US" sz="815" dirty="0"/>
          </a:p>
        </p:txBody>
      </p:sp>
      <p:sp>
        <p:nvSpPr>
          <p:cNvPr id="26" name="Shape 24"/>
          <p:cNvSpPr/>
          <p:nvPr/>
        </p:nvSpPr>
        <p:spPr>
          <a:xfrm>
            <a:off x="8764067" y="1972491"/>
            <a:ext cx="1503731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8818931" y="2027355"/>
            <a:ext cx="1394003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Yes</a:t>
            </a:r>
            <a:endParaRPr lang="en-US" sz="815" dirty="0"/>
          </a:p>
        </p:txBody>
      </p:sp>
      <p:sp>
        <p:nvSpPr>
          <p:cNvPr id="28" name="Shape 26"/>
          <p:cNvSpPr/>
          <p:nvPr/>
        </p:nvSpPr>
        <p:spPr>
          <a:xfrm>
            <a:off x="10267798" y="1972491"/>
            <a:ext cx="1619402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10322662" y="2027355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Asigna al siguiente y mueve cola</a:t>
            </a:r>
            <a:endParaRPr lang="en-US" sz="815" dirty="0"/>
          </a:p>
        </p:txBody>
      </p:sp>
      <p:sp>
        <p:nvSpPr>
          <p:cNvPr id="30" name="Shape 28"/>
          <p:cNvSpPr/>
          <p:nvPr/>
        </p:nvSpPr>
        <p:spPr>
          <a:xfrm>
            <a:off x="320040" y="2710543"/>
            <a:ext cx="2429104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374904" y="2765407"/>
            <a:ext cx="2319376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Asignado por India</a:t>
            </a:r>
            <a:endParaRPr lang="en-US" sz="815" dirty="0"/>
          </a:p>
        </p:txBody>
      </p:sp>
      <p:sp>
        <p:nvSpPr>
          <p:cNvPr id="32" name="Shape 30"/>
          <p:cNvSpPr/>
          <p:nvPr/>
        </p:nvSpPr>
        <p:spPr>
          <a:xfrm>
            <a:off x="2749144" y="2710543"/>
            <a:ext cx="1850746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2804008" y="2765407"/>
            <a:ext cx="1741018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India</a:t>
            </a:r>
            <a:endParaRPr lang="en-US" sz="815" dirty="0"/>
          </a:p>
        </p:txBody>
      </p:sp>
      <p:sp>
        <p:nvSpPr>
          <p:cNvPr id="34" name="Shape 32"/>
          <p:cNvSpPr/>
          <p:nvPr/>
        </p:nvSpPr>
        <p:spPr>
          <a:xfrm>
            <a:off x="4599889" y="2710543"/>
            <a:ext cx="2544775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4654753" y="2765407"/>
            <a:ext cx="2435047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Persona que lo recibió</a:t>
            </a:r>
            <a:endParaRPr lang="en-US" sz="815" dirty="0"/>
          </a:p>
        </p:txBody>
      </p:sp>
      <p:sp>
        <p:nvSpPr>
          <p:cNvPr id="36" name="Shape 34"/>
          <p:cNvSpPr/>
          <p:nvPr/>
        </p:nvSpPr>
        <p:spPr>
          <a:xfrm>
            <a:off x="7144664" y="2710543"/>
            <a:ext cx="1619402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7199528" y="2765407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Vacío</a:t>
            </a:r>
            <a:endParaRPr lang="en-US" sz="815" dirty="0"/>
          </a:p>
        </p:txBody>
      </p:sp>
      <p:sp>
        <p:nvSpPr>
          <p:cNvPr id="38" name="Shape 36"/>
          <p:cNvSpPr/>
          <p:nvPr/>
        </p:nvSpPr>
        <p:spPr>
          <a:xfrm>
            <a:off x="8764067" y="2710543"/>
            <a:ext cx="1503731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/>
          <p:nvPr/>
        </p:nvSpPr>
        <p:spPr>
          <a:xfrm>
            <a:off x="8818931" y="2765407"/>
            <a:ext cx="1394003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Yes</a:t>
            </a:r>
            <a:endParaRPr lang="en-US" sz="815" dirty="0"/>
          </a:p>
        </p:txBody>
      </p:sp>
      <p:sp>
        <p:nvSpPr>
          <p:cNvPr id="40" name="Shape 38"/>
          <p:cNvSpPr/>
          <p:nvPr/>
        </p:nvSpPr>
        <p:spPr>
          <a:xfrm>
            <a:off x="10267798" y="2710543"/>
            <a:ext cx="1619402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/>
          <p:nvPr/>
        </p:nvSpPr>
        <p:spPr>
          <a:xfrm>
            <a:off x="10322662" y="2765407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No mueve cola; crea crédito</a:t>
            </a:r>
            <a:endParaRPr lang="en-US" sz="815" dirty="0"/>
          </a:p>
        </p:txBody>
      </p:sp>
      <p:sp>
        <p:nvSpPr>
          <p:cNvPr id="42" name="Shape 40"/>
          <p:cNvSpPr/>
          <p:nvPr/>
        </p:nvSpPr>
        <p:spPr>
          <a:xfrm>
            <a:off x="320040" y="3448594"/>
            <a:ext cx="2429104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374904" y="3503458"/>
            <a:ext cx="2319376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Asignación manual interna</a:t>
            </a:r>
            <a:endParaRPr lang="en-US" sz="815" dirty="0"/>
          </a:p>
        </p:txBody>
      </p:sp>
      <p:sp>
        <p:nvSpPr>
          <p:cNvPr id="44" name="Shape 42"/>
          <p:cNvSpPr/>
          <p:nvPr/>
        </p:nvSpPr>
        <p:spPr>
          <a:xfrm>
            <a:off x="2749144" y="3448594"/>
            <a:ext cx="1850746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/>
          <p:nvPr/>
        </p:nvSpPr>
        <p:spPr>
          <a:xfrm>
            <a:off x="2804008" y="3503458"/>
            <a:ext cx="1741018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ManualOverride</a:t>
            </a:r>
            <a:endParaRPr lang="en-US" sz="815" dirty="0"/>
          </a:p>
        </p:txBody>
      </p:sp>
      <p:sp>
        <p:nvSpPr>
          <p:cNvPr id="46" name="Shape 44"/>
          <p:cNvSpPr/>
          <p:nvPr/>
        </p:nvSpPr>
        <p:spPr>
          <a:xfrm>
            <a:off x="4599889" y="3448594"/>
            <a:ext cx="2544775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/>
          <p:nvPr/>
        </p:nvSpPr>
        <p:spPr>
          <a:xfrm>
            <a:off x="4654753" y="3503458"/>
            <a:ext cx="2435047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Persona asignada</a:t>
            </a:r>
            <a:endParaRPr lang="en-US" sz="815" dirty="0"/>
          </a:p>
        </p:txBody>
      </p:sp>
      <p:sp>
        <p:nvSpPr>
          <p:cNvPr id="48" name="Shape 46"/>
          <p:cNvSpPr/>
          <p:nvPr/>
        </p:nvSpPr>
        <p:spPr>
          <a:xfrm>
            <a:off x="7144664" y="3448594"/>
            <a:ext cx="1619402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/>
          <p:nvPr/>
        </p:nvSpPr>
        <p:spPr>
          <a:xfrm>
            <a:off x="7199528" y="3503458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Vacío</a:t>
            </a:r>
            <a:endParaRPr lang="en-US" sz="815" dirty="0"/>
          </a:p>
        </p:txBody>
      </p:sp>
      <p:sp>
        <p:nvSpPr>
          <p:cNvPr id="50" name="Shape 48"/>
          <p:cNvSpPr/>
          <p:nvPr/>
        </p:nvSpPr>
        <p:spPr>
          <a:xfrm>
            <a:off x="8764067" y="3448594"/>
            <a:ext cx="1503731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/>
          <p:nvPr/>
        </p:nvSpPr>
        <p:spPr>
          <a:xfrm>
            <a:off x="8818931" y="3503458"/>
            <a:ext cx="1394003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/>
              <a:t>Yes</a:t>
            </a:r>
          </a:p>
        </p:txBody>
      </p:sp>
      <p:sp>
        <p:nvSpPr>
          <p:cNvPr id="52" name="Shape 50"/>
          <p:cNvSpPr/>
          <p:nvPr/>
        </p:nvSpPr>
        <p:spPr>
          <a:xfrm>
            <a:off x="10267798" y="3448594"/>
            <a:ext cx="1619402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/>
          <p:nvPr/>
        </p:nvSpPr>
        <p:spPr>
          <a:xfrm>
            <a:off x="10322662" y="3503458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No mueve cola; crea crédito</a:t>
            </a:r>
            <a:endParaRPr lang="en-US" sz="815" dirty="0"/>
          </a:p>
        </p:txBody>
      </p:sp>
      <p:sp>
        <p:nvSpPr>
          <p:cNvPr id="54" name="Shape 52"/>
          <p:cNvSpPr/>
          <p:nvPr/>
        </p:nvSpPr>
        <p:spPr>
          <a:xfrm>
            <a:off x="320040" y="4186646"/>
            <a:ext cx="2429104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5" name="Text 53"/>
          <p:cNvSpPr/>
          <p:nvPr/>
        </p:nvSpPr>
        <p:spPr>
          <a:xfrm>
            <a:off x="374904" y="4241510"/>
            <a:ext cx="2319376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Fuera de horario</a:t>
            </a:r>
            <a:endParaRPr lang="en-US" sz="815" dirty="0"/>
          </a:p>
        </p:txBody>
      </p:sp>
      <p:sp>
        <p:nvSpPr>
          <p:cNvPr id="56" name="Shape 54"/>
          <p:cNvSpPr/>
          <p:nvPr/>
        </p:nvSpPr>
        <p:spPr>
          <a:xfrm>
            <a:off x="2749144" y="4186646"/>
            <a:ext cx="1850746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55"/>
          <p:cNvSpPr/>
          <p:nvPr/>
        </p:nvSpPr>
        <p:spPr>
          <a:xfrm>
            <a:off x="2804008" y="4241510"/>
            <a:ext cx="1741018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AfterHours</a:t>
            </a:r>
            <a:endParaRPr lang="en-US" sz="815" dirty="0"/>
          </a:p>
        </p:txBody>
      </p:sp>
      <p:sp>
        <p:nvSpPr>
          <p:cNvPr id="58" name="Shape 56"/>
          <p:cNvSpPr/>
          <p:nvPr/>
        </p:nvSpPr>
        <p:spPr>
          <a:xfrm>
            <a:off x="4599889" y="4186646"/>
            <a:ext cx="2544775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9" name="Text 57"/>
          <p:cNvSpPr/>
          <p:nvPr/>
        </p:nvSpPr>
        <p:spPr>
          <a:xfrm>
            <a:off x="4654753" y="4241510"/>
            <a:ext cx="2435047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Persona que atendió</a:t>
            </a:r>
            <a:endParaRPr lang="en-US" sz="815" dirty="0"/>
          </a:p>
        </p:txBody>
      </p:sp>
      <p:sp>
        <p:nvSpPr>
          <p:cNvPr id="60" name="Shape 58"/>
          <p:cNvSpPr/>
          <p:nvPr/>
        </p:nvSpPr>
        <p:spPr>
          <a:xfrm>
            <a:off x="7144664" y="4186646"/>
            <a:ext cx="1619402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1" name="Text 59"/>
          <p:cNvSpPr/>
          <p:nvPr/>
        </p:nvSpPr>
        <p:spPr>
          <a:xfrm>
            <a:off x="7199528" y="4241510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Vacío</a:t>
            </a:r>
            <a:endParaRPr lang="en-US" sz="815" dirty="0"/>
          </a:p>
        </p:txBody>
      </p:sp>
      <p:sp>
        <p:nvSpPr>
          <p:cNvPr id="62" name="Shape 60"/>
          <p:cNvSpPr/>
          <p:nvPr/>
        </p:nvSpPr>
        <p:spPr>
          <a:xfrm>
            <a:off x="8764067" y="4186646"/>
            <a:ext cx="1503731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3" name="Text 61"/>
          <p:cNvSpPr/>
          <p:nvPr/>
        </p:nvSpPr>
        <p:spPr>
          <a:xfrm>
            <a:off x="8818931" y="4241510"/>
            <a:ext cx="1394003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Yes</a:t>
            </a:r>
            <a:endParaRPr lang="en-US" sz="815" dirty="0"/>
          </a:p>
        </p:txBody>
      </p:sp>
      <p:sp>
        <p:nvSpPr>
          <p:cNvPr id="64" name="Shape 62"/>
          <p:cNvSpPr/>
          <p:nvPr/>
        </p:nvSpPr>
        <p:spPr>
          <a:xfrm>
            <a:off x="10267798" y="4186646"/>
            <a:ext cx="1619402" cy="738051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5" name="Text 63"/>
          <p:cNvSpPr/>
          <p:nvPr/>
        </p:nvSpPr>
        <p:spPr>
          <a:xfrm>
            <a:off x="10322662" y="4241510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No mueve cola; crea crédito</a:t>
            </a:r>
            <a:endParaRPr lang="en-US" sz="815" dirty="0"/>
          </a:p>
        </p:txBody>
      </p:sp>
      <p:sp>
        <p:nvSpPr>
          <p:cNvPr id="66" name="Shape 64"/>
          <p:cNvSpPr/>
          <p:nvPr/>
        </p:nvSpPr>
        <p:spPr>
          <a:xfrm>
            <a:off x="320040" y="4924697"/>
            <a:ext cx="2429104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7" name="Text 65"/>
          <p:cNvSpPr/>
          <p:nvPr/>
        </p:nvSpPr>
        <p:spPr>
          <a:xfrm>
            <a:off x="374904" y="4979561"/>
            <a:ext cx="2319376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Fin de semana</a:t>
            </a:r>
            <a:endParaRPr lang="en-US" sz="815" dirty="0"/>
          </a:p>
        </p:txBody>
      </p:sp>
      <p:sp>
        <p:nvSpPr>
          <p:cNvPr id="68" name="Shape 66"/>
          <p:cNvSpPr/>
          <p:nvPr/>
        </p:nvSpPr>
        <p:spPr>
          <a:xfrm>
            <a:off x="2749144" y="4924697"/>
            <a:ext cx="1850746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9" name="Text 67"/>
          <p:cNvSpPr/>
          <p:nvPr/>
        </p:nvSpPr>
        <p:spPr>
          <a:xfrm>
            <a:off x="2804008" y="4979561"/>
            <a:ext cx="1741018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Weekend</a:t>
            </a:r>
            <a:endParaRPr lang="en-US" sz="815" dirty="0"/>
          </a:p>
        </p:txBody>
      </p:sp>
      <p:sp>
        <p:nvSpPr>
          <p:cNvPr id="70" name="Shape 68"/>
          <p:cNvSpPr/>
          <p:nvPr/>
        </p:nvSpPr>
        <p:spPr>
          <a:xfrm>
            <a:off x="4599889" y="4924697"/>
            <a:ext cx="2544775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1" name="Text 69"/>
          <p:cNvSpPr/>
          <p:nvPr/>
        </p:nvSpPr>
        <p:spPr>
          <a:xfrm>
            <a:off x="4654753" y="4979561"/>
            <a:ext cx="2435047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On-call</a:t>
            </a:r>
            <a:endParaRPr lang="en-US" sz="815" dirty="0"/>
          </a:p>
        </p:txBody>
      </p:sp>
      <p:sp>
        <p:nvSpPr>
          <p:cNvPr id="72" name="Shape 70"/>
          <p:cNvSpPr/>
          <p:nvPr/>
        </p:nvSpPr>
        <p:spPr>
          <a:xfrm>
            <a:off x="7144664" y="4924697"/>
            <a:ext cx="1619402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3" name="Text 71"/>
          <p:cNvSpPr/>
          <p:nvPr/>
        </p:nvSpPr>
        <p:spPr>
          <a:xfrm>
            <a:off x="7199528" y="4979561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Vacío</a:t>
            </a:r>
            <a:endParaRPr lang="en-US" sz="815" dirty="0"/>
          </a:p>
        </p:txBody>
      </p:sp>
      <p:sp>
        <p:nvSpPr>
          <p:cNvPr id="74" name="Shape 72"/>
          <p:cNvSpPr/>
          <p:nvPr/>
        </p:nvSpPr>
        <p:spPr>
          <a:xfrm>
            <a:off x="8764067" y="4924697"/>
            <a:ext cx="1503731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5" name="Text 73"/>
          <p:cNvSpPr/>
          <p:nvPr/>
        </p:nvSpPr>
        <p:spPr>
          <a:xfrm>
            <a:off x="8818931" y="4979561"/>
            <a:ext cx="1394003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Yes</a:t>
            </a:r>
            <a:endParaRPr lang="en-US" sz="815" dirty="0"/>
          </a:p>
        </p:txBody>
      </p:sp>
      <p:sp>
        <p:nvSpPr>
          <p:cNvPr id="76" name="Shape 74"/>
          <p:cNvSpPr/>
          <p:nvPr/>
        </p:nvSpPr>
        <p:spPr>
          <a:xfrm>
            <a:off x="10267798" y="4924697"/>
            <a:ext cx="1619402" cy="738051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7" name="Text 75"/>
          <p:cNvSpPr/>
          <p:nvPr/>
        </p:nvSpPr>
        <p:spPr>
          <a:xfrm>
            <a:off x="10322662" y="4979561"/>
            <a:ext cx="1509674" cy="62832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15" dirty="0">
                <a:solidFill>
                  <a:srgbClr val="0F172A"/>
                </a:solidFill>
              </a:rPr>
              <a:t>No mueve cola; crea crédito</a:t>
            </a:r>
            <a:endParaRPr lang="en-US" sz="815" dirty="0"/>
          </a:p>
        </p:txBody>
      </p:sp>
      <p:sp>
        <p:nvSpPr>
          <p:cNvPr id="90" name="Text 88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Ejemplos de registro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Tres casos frecuentes y cómo deben quedar.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435352" y="1517904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435352" y="1517904"/>
            <a:ext cx="91440" cy="42062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2663952" y="16459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Ejemplo 1 · Normal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63952" y="1993392"/>
            <a:ext cx="310896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La cola iba en Daniel.</a:t>
            </a:r>
            <a:endParaRPr lang="en-US" sz="1080" dirty="0"/>
          </a:p>
          <a:p>
            <a:pPr marL="0" indent="0">
              <a:buNone/>
            </a:pP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Title: INC003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EntryType: Normal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Status: New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Counted: Yes</a:t>
            </a:r>
            <a:endParaRPr lang="en-US" sz="1080" dirty="0"/>
          </a:p>
          <a:p>
            <a:pPr marL="0" indent="0">
              <a:buNone/>
            </a:pP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Resultado: William recibe el ticket.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211824" y="1517904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6211824" y="1517904"/>
            <a:ext cx="91440" cy="4206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440424" y="16459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</a:rPr>
              <a:t>Ejemplo 2 · ManualOverride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40424" y="1993392"/>
            <a:ext cx="310896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La cola iba en Daniel, pero se asignó a Cristian.</a:t>
            </a:r>
            <a:endParaRPr lang="en-US" sz="1080" dirty="0"/>
          </a:p>
          <a:p>
            <a:pPr marL="0" indent="0">
              <a:buNone/>
            </a:pP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EntryType: ManualOverride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AlreadyAssigned: Cristian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Counted: Yes</a:t>
            </a:r>
            <a:endParaRPr lang="en-US" sz="1080" dirty="0"/>
          </a:p>
          <a:p>
            <a:pPr marL="0" indent="0">
              <a:buNone/>
            </a:pP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Resultado: cola sigue en Daniel y Cristian obtiene </a:t>
            </a:r>
            <a:r>
              <a:rPr lang="en-US" sz="1080" dirty="0" err="1">
                <a:solidFill>
                  <a:srgbClr val="334155"/>
                </a:solidFill>
              </a:rPr>
              <a:t>crédito</a:t>
            </a:r>
            <a:r>
              <a:rPr lang="en-US" sz="1080" dirty="0">
                <a:solidFill>
                  <a:srgbClr val="334155"/>
                </a:solidFill>
              </a:rPr>
              <a:t>.</a:t>
            </a:r>
          </a:p>
          <a:p>
            <a:pPr marL="0" indent="0">
              <a:buNone/>
            </a:pPr>
            <a:endParaRPr lang="en-US" sz="1080" dirty="0">
              <a:solidFill>
                <a:srgbClr val="334155"/>
              </a:solidFill>
            </a:endParaRPr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Cristian </a:t>
            </a:r>
            <a:r>
              <a:rPr lang="en-US" sz="1080" dirty="0" err="1">
                <a:solidFill>
                  <a:srgbClr val="334155"/>
                </a:solidFill>
              </a:rPr>
              <a:t>debe</a:t>
            </a:r>
            <a:r>
              <a:rPr lang="en-US" sz="1080" dirty="0">
                <a:solidFill>
                  <a:srgbClr val="334155"/>
                </a:solidFill>
              </a:rPr>
              <a:t> de registrar </a:t>
            </a:r>
            <a:r>
              <a:rPr lang="en-US" sz="1080" dirty="0" err="1">
                <a:solidFill>
                  <a:srgbClr val="334155"/>
                </a:solidFill>
              </a:rPr>
              <a:t>su</a:t>
            </a:r>
            <a:r>
              <a:rPr lang="en-US" sz="1080" dirty="0">
                <a:solidFill>
                  <a:srgbClr val="334155"/>
                </a:solidFill>
              </a:rPr>
              <a:t> </a:t>
            </a:r>
            <a:r>
              <a:rPr lang="en-US" sz="1080" dirty="0" err="1">
                <a:solidFill>
                  <a:srgbClr val="334155"/>
                </a:solidFill>
              </a:rPr>
              <a:t>crédito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979152" y="1517904"/>
            <a:ext cx="91440" cy="4206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Enlace de las </a:t>
            </a:r>
            <a:r>
              <a:rPr lang="en-US" sz="2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Listas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105156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91440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1051560" y="1682496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  <a:hlinkClick r:id="rId3"/>
              </a:rPr>
              <a:t>Microsoft Lists – Incidents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5196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Manual operativo de cola de incidentes · 16</a:t>
            </a:r>
            <a:endParaRPr lang="en-US" sz="75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0C3C17C7-B89A-F265-825C-285DD1D37C95}"/>
              </a:ext>
            </a:extLst>
          </p:cNvPr>
          <p:cNvSpPr/>
          <p:nvPr/>
        </p:nvSpPr>
        <p:spPr>
          <a:xfrm>
            <a:off x="1051560" y="198882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  <a:hlinkClick r:id="rId4"/>
              </a:rPr>
              <a:t>Microsoft Lists – Credits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ffa499d-8334-4b45-bbba-5ec17299202b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1167</TotalTime>
  <Words>1111</Words>
  <Application>Microsoft Office PowerPoint</Application>
  <PresentationFormat>Widescreen</PresentationFormat>
  <Paragraphs>241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operativo - Cola de incidentes en Microsoft Lists</dc:title>
  <dc:subject>Manual operativo para registro de tickets en Microsoft Lists</dc:subject>
  <dc:creator>OpenAI</dc:creator>
  <cp:lastModifiedBy>Fandiño, Cristian</cp:lastModifiedBy>
  <cp:revision>3</cp:revision>
  <dcterms:created xsi:type="dcterms:W3CDTF">2026-05-25T18:03:59Z</dcterms:created>
  <dcterms:modified xsi:type="dcterms:W3CDTF">2026-05-26T18:02:30Z</dcterms:modified>
</cp:coreProperties>
</file>